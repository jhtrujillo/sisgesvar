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194560" cy="6867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2103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AVANCES · SIVAR · 2026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87168"/>
            <a:ext cx="9326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SIVAR: Integración, Avances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Refactorización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160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 de los avances funcionales, técnicos y de gestión del Sistema de Mejoramiento — Programa de Variedades de CENICAÑA.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5623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 Henry Trujillo, Ph.D.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Mejoramiento Genético + Grupo de Biotecnología · CENICAÑA</a:t>
            </a:r>
            <a:endParaRPr lang="en-US" sz="1300" dirty="0"/>
          </a:p>
        </p:txBody>
      </p:sp>
      <p:pic>
        <p:nvPicPr>
          <p:cNvPr id="7" name="Image 1" descr="assets/disc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2057400"/>
            <a:ext cx="21031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602691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Contexto</a:t>
            </a:r>
            <a:endParaRPr lang="en-US" sz="3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09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SIVAR, su importancia y la visión tecnológica</a:t>
            </a:r>
            <a:endParaRPr lang="en-US" sz="1400" dirty="0"/>
          </a:p>
        </p:txBody>
      </p:sp>
      <p:pic>
        <p:nvPicPr>
          <p:cNvPr id="6" name="Image 0" descr="assets/disc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46888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SIVAR?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SIVAR — Integración, Avances y Refactorización ·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de Información para el Mejoramiento que centraliza y digitaliza el programa de variedades de CENICAÑA, unificando en un solo sistema los datos que antes vivían aislados.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670048"/>
            <a:ext cx="603504" cy="60350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0876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Campo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5176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Viveros, parcelas, cosechas y fechas de floración con trazabilidad completa.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45352" y="210312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2670048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96912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Genéticos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296912" y="265176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germoplasma, genealogías y caracterización fenotípica.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4681728"/>
            <a:ext cx="603504" cy="60350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Moleculares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66344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Distancias genéticas por marcadores y bioinformática integrada.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681728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96912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plataforma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296912" y="466344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única de verdad que permite cruzar variables antes desconectadas.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mejoramiento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SIVAR — Integración, Avances y Refactorización ·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fluyen como un encadenamiento vital: la salida de un módulo es la entrada del siguiente, y la trazabilidad recorre toda la cadena.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475738" cy="2194560"/>
          </a:xfrm>
          <a:prstGeom prst="roundRect">
            <a:avLst>
              <a:gd name="adj" fmla="val 375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3589" y="2496312"/>
            <a:ext cx="822960" cy="82296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3383280"/>
            <a:ext cx="2256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Siembra Campo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74904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variedad y dónde (vivero → parcela).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978658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90138" y="2286000"/>
            <a:ext cx="2475738" cy="2194560"/>
          </a:xfrm>
          <a:prstGeom prst="roundRect">
            <a:avLst>
              <a:gd name="adj" fmla="val 3750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16527" y="2496312"/>
            <a:ext cx="822960" cy="82296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99866" y="3383280"/>
            <a:ext cx="2256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Floración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27298" y="374904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flores hay hoy (sexo, polen, fecha).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911596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323076" y="2286000"/>
            <a:ext cx="2475738" cy="2194560"/>
          </a:xfrm>
          <a:prstGeom prst="roundRect">
            <a:avLst>
              <a:gd name="adj" fmla="val 375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49465" y="2496312"/>
            <a:ext cx="822960" cy="82296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32804" y="3383280"/>
            <a:ext cx="2256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Cruzamientos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60236" y="374904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cruzar: viabilidad + VM + distancia.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844534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256014" y="2286000"/>
            <a:ext cx="2475738" cy="2194560"/>
          </a:xfrm>
          <a:prstGeom prst="roundRect">
            <a:avLst>
              <a:gd name="adj" fmla="val 3750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82403" y="2496312"/>
            <a:ext cx="822960" cy="82296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65742" y="3383280"/>
            <a:ext cx="2256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Semilla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393174" y="374904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Progenie que vuelve al campo.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937760"/>
            <a:ext cx="11274552" cy="1051560"/>
          </a:xfrm>
          <a:prstGeom prst="roundRect">
            <a:avLst>
              <a:gd name="adj" fmla="val 7826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" y="5175504"/>
            <a:ext cx="566928" cy="566928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554480" y="493776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continua: 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evento de floración se valida contra la parcela sembrada y cada cruce queda ligado a las flores reales de esa fecha.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general y Data Lake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SIVAR — Integración, Avances y Refactorización ·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stack moderno sobre una base de datos única que actúa como Data Lake especializado, conectado al sistema corporativo SIPRO.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670048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0876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Vue 3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5176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TypeScript + Tailwind. Dashboards y asistentes de importación.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45352" y="210312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2670048"/>
            <a:ext cx="603504" cy="60350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96912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Laravel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296912" y="265176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PHP. Reglas de negocio, el motor de cruzamientos y las validaciones.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4681728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— PostgreSQL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66344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dedicada 'sivar' como fuente única de verdad.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681728"/>
            <a:ext cx="603504" cy="60350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96912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+ SIPRO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296912" y="466344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de campo, genética y molecular + puente al sistema corporativo.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602691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Gestión, Historias de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y Refactorización</a:t>
            </a:r>
            <a:endParaRPr lang="en-US" sz="3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09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equipo, metodología y mejoras de base</a:t>
            </a:r>
            <a:endParaRPr lang="en-US" sz="1400" dirty="0"/>
          </a:p>
        </p:txBody>
      </p:sp>
      <p:pic>
        <p:nvPicPr>
          <p:cNvPr id="6" name="Image 0" descr="assets/disc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46888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GESTIÓN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de equipos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SIVAR — Integración, Avances y Refactorización ·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avance nace de un trabajo coordinado entre las áreas, con una dinámica de reuniones ágiles que mantiene el foco en la necesidad real del programa.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10512" y="2377440"/>
            <a:ext cx="822960" cy="82296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24612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Variedades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1188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 necesidad del programa y valida las reglas de negocio.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15968" y="214884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2377440"/>
            <a:ext cx="822960" cy="82296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98848" y="324612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Mejoramiento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44568" y="361188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el criterio genético y prioriza los cruzamientos.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74736" y="214884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28048" y="2377440"/>
            <a:ext cx="822960" cy="82296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57616" y="324612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SETI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03336" y="361188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estándares, seguridad y sostenibilidad técnica.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617720"/>
            <a:ext cx="11274552" cy="960120"/>
          </a:xfrm>
          <a:prstGeom prst="roundRect">
            <a:avLst>
              <a:gd name="adj" fmla="val 8571"/>
            </a:avLst>
          </a:prstGeom>
          <a:solidFill>
            <a:srgbClr val="241832"/>
          </a:solidFill>
          <a:ln w="12700">
            <a:solidFill>
              <a:srgbClr val="2418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818888"/>
            <a:ext cx="548640" cy="548640"/>
          </a:xfrm>
          <a:prstGeom prst="ellipse">
            <a:avLst/>
          </a:prstGeom>
          <a:solidFill>
            <a:srgbClr val="00D57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554480" y="461772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 ágil: 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frecuentes de sincronización que acortan el ciclo entre la necesidad de campo y la funcionalidad entregada.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GESTIÓN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 y validación operativa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SIVAR — Integración, Avances y Refactorización ·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necesidad de campo se convierte en reglas exactas y se valida directamente con los usuarios, en su propio contexto de trabajo.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475738" cy="2194560"/>
          </a:xfrm>
          <a:prstGeom prst="roundRect">
            <a:avLst>
              <a:gd name="adj" fmla="val 375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3589" y="2496312"/>
            <a:ext cx="822960" cy="82296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3383280"/>
            <a:ext cx="2256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 el campo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74904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levanta la necesidad real del mejorador.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978658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90138" y="2286000"/>
            <a:ext cx="2475738" cy="2194560"/>
          </a:xfrm>
          <a:prstGeom prst="roundRect">
            <a:avLst>
              <a:gd name="adj" fmla="val 3750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16527" y="2496312"/>
            <a:ext cx="822960" cy="82296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99866" y="3383280"/>
            <a:ext cx="2256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reglas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27298" y="374904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traducen a reglas exactas y verificables.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911596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323076" y="2286000"/>
            <a:ext cx="2475738" cy="2194560"/>
          </a:xfrm>
          <a:prstGeom prst="roundRect">
            <a:avLst>
              <a:gd name="adj" fmla="val 375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49465" y="2496312"/>
            <a:ext cx="822960" cy="82296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32804" y="3383280"/>
            <a:ext cx="2256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el usuario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60236" y="374904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la app (ej. floración en tablets).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844534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256014" y="2286000"/>
            <a:ext cx="2475738" cy="2194560"/>
          </a:xfrm>
          <a:prstGeom prst="roundRect">
            <a:avLst>
              <a:gd name="adj" fmla="val 3750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82403" y="2496312"/>
            <a:ext cx="822960" cy="82296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65742" y="3383280"/>
            <a:ext cx="2256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393174" y="374904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rápidos según retroalimentación.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937760"/>
            <a:ext cx="11274552" cy="1051560"/>
          </a:xfrm>
          <a:prstGeom prst="roundRect">
            <a:avLst>
              <a:gd name="adj" fmla="val 7826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" y="5175504"/>
            <a:ext cx="566928" cy="566928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554480" y="493776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del usuario: 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en el dispositivo real (tablets en campo) asegura que la herramienta se ajuste al flujo de trabajo, no al revés.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GESTIÓN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Refactorización y estándares SETI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SIVAR — Integración, Avances y Refactorización ·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saneó el código para pagar la deuda técnica y alinear la plataforma con las normas de arquitectura y seguridad de SETI.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670048"/>
            <a:ext cx="603504" cy="60350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0876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de deuda técnica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5176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reorganización del código para reducir complejidad y errores.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45352" y="210312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2670048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96912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rendimiento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296912" y="265176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y flujos más rápidos y eficientes para el usuario.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4681728"/>
            <a:ext cx="603504" cy="60350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estándar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66344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de los patrones de arquitectura definidos por SETI.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681728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96912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296912" y="466344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a las normas de seguridad institucionales.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GESTIÓN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en la interfaz de usuario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SIVAR — Integración, Avances y Refactorización ·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es hoy más intuitiva y eficiente para los mejoradores en los cinco módulos clave de la plataforma.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103120" cy="1828800"/>
          </a:xfrm>
          <a:prstGeom prst="roundRect">
            <a:avLst>
              <a:gd name="adj" fmla="val 450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0140" y="2537460"/>
            <a:ext cx="777240" cy="77724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429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Siembra Campo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50058" y="2286000"/>
            <a:ext cx="2103120" cy="1828800"/>
          </a:xfrm>
          <a:prstGeom prst="roundRect">
            <a:avLst>
              <a:gd name="adj" fmla="val 4500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2998" y="2537460"/>
            <a:ext cx="777240" cy="77724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841498" y="3429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42916" y="2286000"/>
            <a:ext cx="2103120" cy="1828800"/>
          </a:xfrm>
          <a:prstGeom prst="roundRect">
            <a:avLst>
              <a:gd name="adj" fmla="val 450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05856" y="2537460"/>
            <a:ext cx="777240" cy="77724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134356" y="3429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Cruzamientos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35774" y="2286000"/>
            <a:ext cx="2103120" cy="1828800"/>
          </a:xfrm>
          <a:prstGeom prst="roundRect">
            <a:avLst>
              <a:gd name="adj" fmla="val 4500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98714" y="2537460"/>
            <a:ext cx="777240" cy="77724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27214" y="3429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Variedades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628632" y="2286000"/>
            <a:ext cx="2103120" cy="1828800"/>
          </a:xfrm>
          <a:prstGeom prst="roundRect">
            <a:avLst>
              <a:gd name="adj" fmla="val 450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91572" y="2537460"/>
            <a:ext cx="777240" cy="77724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20072" y="3429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11274552" cy="960120"/>
          </a:xfrm>
          <a:prstGeom prst="roundRect">
            <a:avLst>
              <a:gd name="adj" fmla="val 8571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818888"/>
            <a:ext cx="548640" cy="54864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554480" y="461772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intuitiva y eficiente:  </a:t>
            </a:r>
            <a:pPr indent="0" marL="0">
              <a:buNone/>
            </a:pPr>
            <a:r>
              <a:rPr lang="en-US" sz="12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pasos, validaciones claras y navegación consistente en los cinco módulos.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602691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Funcionales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Módulo</a:t>
            </a:r>
            <a:endParaRPr lang="en-US" sz="3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09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 de negocio y lo que la plataforma permite hoy</a:t>
            </a:r>
            <a:endParaRPr lang="en-US" sz="1400" dirty="0"/>
          </a:p>
        </p:txBody>
      </p:sp>
      <p:pic>
        <p:nvPicPr>
          <p:cNvPr id="6" name="Image 0" descr="assets/disc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46888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MÓDULOS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Siembra Campo — Trazabilidad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SIVAR — Integración, Avances y Refactorización ·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el material sembrado y protege la integridad de los datos de extremo a extremo.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21408"/>
            <a:ext cx="603504" cy="60350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viveros y parcelas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5146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ingenio → hacienda → suerte → vivero → parcela → variedad.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90088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3145536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08760" y="3172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Cosechas y socas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5387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 registrados como nodos históricos: genealogía recursiva completa.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014216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4169664"/>
            <a:ext cx="603504" cy="60350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41970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Identificadores únicos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56285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sistemático {ingenio}{año}-{hacienda}-{suerte}-{consecutivo}.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5038344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5193792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508760" y="52212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atómicas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5869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trasladar y cosechar corren en transacción: todo o nada.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1965960"/>
            <a:ext cx="5422392" cy="3977640"/>
          </a:xfrm>
          <a:prstGeom prst="roundRect">
            <a:avLst>
              <a:gd name="adj" fmla="val 2069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213055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VIVERO (ilustrativo)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48956" y="256032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60269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48956" y="2560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Vivero 0025-1734-56-1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020556" y="3108960"/>
            <a:ext cx="-1179576" cy="365760"/>
          </a:xfrm>
          <a:prstGeom prst="line">
            <a:avLst/>
          </a:prstGeom>
          <a:noFill/>
          <a:ln w="19050">
            <a:solidFill>
              <a:srgbClr val="E4DE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0" y="3474720"/>
            <a:ext cx="2331720" cy="475488"/>
          </a:xfrm>
          <a:prstGeom prst="roundRect">
            <a:avLst>
              <a:gd name="adj" fmla="val 11538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0" y="347472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 01 · V1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020556" y="3108960"/>
            <a:ext cx="1179576" cy="365760"/>
          </a:xfrm>
          <a:prstGeom prst="line">
            <a:avLst/>
          </a:prstGeom>
          <a:noFill/>
          <a:ln w="19050">
            <a:solidFill>
              <a:srgbClr val="E4DE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34272" y="3474720"/>
            <a:ext cx="2331720" cy="475488"/>
          </a:xfrm>
          <a:prstGeom prst="roundRect">
            <a:avLst>
              <a:gd name="adj" fmla="val 11538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034272" y="347472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 02 · V2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840980" y="3950208"/>
            <a:ext cx="0" cy="347472"/>
          </a:xfrm>
          <a:prstGeom prst="line">
            <a:avLst/>
          </a:prstGeom>
          <a:noFill/>
          <a:ln w="19050">
            <a:solidFill>
              <a:srgbClr val="E4DE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0" y="429768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EFE9F7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75120" y="4297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1 (soca) · histórico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537960" y="56144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Genealogía recursiva: origen → parcelas → cortes/cosechas.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MÓDULOS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Floración — Registro seguro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SIVAR — Integración, Avances y Refactorización ·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los eventos de floración con un diseño que separa validar de escribir: nada entra a la base si la validación no pasa por completo.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532120" cy="1874520"/>
          </a:xfrm>
          <a:prstGeom prst="roundRect">
            <a:avLst>
              <a:gd name="adj" fmla="val 439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2139696"/>
            <a:ext cx="566928" cy="566928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08760" y="21579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Validación (en memoria)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7889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la importación, aplica las reglas y devuelve errores (fila + mensaje) o el conteo de filas válidas. No escribe nada.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9632" y="1965960"/>
            <a:ext cx="5532120" cy="1874520"/>
          </a:xfrm>
          <a:prstGeom prst="roundRect">
            <a:avLst>
              <a:gd name="adj" fmla="val 4390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9088" y="2139696"/>
            <a:ext cx="566928" cy="566928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51192" y="21579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Ejecución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27889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corre si la Fase 1 quedó sin errores. Limpia los datos e inserta con estado = 0 (disponible para cruzar).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11274552" cy="1920240"/>
          </a:xfrm>
          <a:prstGeom prst="roundRect">
            <a:avLst>
              <a:gd name="adj" fmla="val 4286"/>
            </a:avLst>
          </a:prstGeom>
          <a:solidFill>
            <a:srgbClr val="241832"/>
          </a:solidFill>
          <a:ln w="12700">
            <a:solidFill>
              <a:srgbClr val="2418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224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REGLAS ESTRICTAS ANTES DE INSERTAR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617720"/>
            <a:ext cx="2615184" cy="1143000"/>
          </a:xfrm>
          <a:prstGeom prst="roundRect">
            <a:avLst>
              <a:gd name="adj" fmla="val 6400"/>
            </a:avLst>
          </a:prstGeom>
          <a:solidFill>
            <a:srgbClr val="60269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70916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19379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/ vivero coincide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65576" y="4617720"/>
            <a:ext cx="2615184" cy="1143000"/>
          </a:xfrm>
          <a:prstGeom prst="roundRect">
            <a:avLst>
              <a:gd name="adj" fmla="val 6400"/>
            </a:avLst>
          </a:prstGeom>
          <a:solidFill>
            <a:srgbClr val="60269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465576" y="470916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3602736" y="519379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parcela existe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99632" y="4617720"/>
            <a:ext cx="2615184" cy="1143000"/>
          </a:xfrm>
          <a:prstGeom prst="roundRect">
            <a:avLst>
              <a:gd name="adj" fmla="val 6400"/>
            </a:avLst>
          </a:prstGeom>
          <a:solidFill>
            <a:srgbClr val="60269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199632" y="470916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6336792" y="519379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Variedad consistente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33688" y="4617720"/>
            <a:ext cx="2615184" cy="1143000"/>
          </a:xfrm>
          <a:prstGeom prst="roundRect">
            <a:avLst>
              <a:gd name="adj" fmla="val 6400"/>
            </a:avLst>
          </a:prstGeom>
          <a:solidFill>
            <a:srgbClr val="60269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933688" y="470916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9070848" y="519379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coincide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CRUZAMIENTOS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de decisión — Restricciones biológicas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SIVAR — Integración, Avances y Refactorización ·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puntuar nada, el motor descarta lo biológicamente imposible. Dos restricciones acotan el universo de cruces candidatos.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74552" cy="1783080"/>
          </a:xfrm>
          <a:prstGeom prst="roundRect">
            <a:avLst>
              <a:gd name="adj" fmla="val 4615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514600"/>
            <a:ext cx="731520" cy="73152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2240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Ventana temporal y sincronización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6517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consideran flores de la ventana [ayer, hoy], con estado disponible y fuera de bolsa común. Fundamento: solo puede cruzarse lo que florece simultáneamente.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11274552" cy="2011680"/>
          </a:xfrm>
          <a:prstGeom prst="roundRect">
            <a:avLst>
              <a:gd name="adj" fmla="val 4091"/>
            </a:avLst>
          </a:prstGeom>
          <a:solidFill>
            <a:srgbClr val="241832"/>
          </a:solidFill>
          <a:ln w="12700">
            <a:solidFill>
              <a:srgbClr val="2418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663440"/>
            <a:ext cx="731520" cy="73152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828800" y="4206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Validación de sexo (dirección del cruce)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46177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cruce es dirigido madre (A) × padre (B). El par se descarta si A no es femenino o B no es masculino.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0" y="5193792"/>
            <a:ext cx="4663440" cy="640080"/>
          </a:xfrm>
          <a:prstGeom prst="roundRect">
            <a:avLst>
              <a:gd name="adj" fmla="val 14286"/>
            </a:avLst>
          </a:prstGeom>
          <a:solidFill>
            <a:srgbClr val="60269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965960" y="51937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Madre ♀   </a:t>
            </a:r>
            <a:pPr indent="0" marL="0">
              <a:buNone/>
            </a:pPr>
            <a:r>
              <a:rPr lang="en-US" sz="120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Hembra · HF · HD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5193792"/>
            <a:ext cx="4663440" cy="640080"/>
          </a:xfrm>
          <a:prstGeom prst="roundRect">
            <a:avLst>
              <a:gd name="adj" fmla="val 14286"/>
            </a:avLst>
          </a:prstGeom>
          <a:solidFill>
            <a:srgbClr val="00A8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03720" y="51937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Padre ♂   </a:t>
            </a:r>
            <a:pPr indent="0" marL="0">
              <a:buNone/>
            </a:pPr>
            <a:r>
              <a:rPr lang="en-US" sz="1200" dirty="0">
                <a:solidFill>
                  <a:srgbClr val="E6F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Macho · MF · MD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CRUZAMIENTOS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de decisión — Valor de Mérito (VM)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SIVAR — Integración, Avances y Refactorización ·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normaliza características muy distintas en una escala común y las combina en un score, evitando el error humano.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5074920" cy="960120"/>
          </a:xfrm>
          <a:prstGeom prst="roundRect">
            <a:avLst>
              <a:gd name="adj" fmla="val 8571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01168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= (valor × 100) / testigo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99632" y="2011680"/>
            <a:ext cx="5074920" cy="960120"/>
          </a:xfrm>
          <a:prstGeom prst="roundRect">
            <a:avLst>
              <a:gd name="adj" fmla="val 8571"/>
            </a:avLst>
          </a:prstGeom>
          <a:solidFill>
            <a:srgbClr val="241832"/>
          </a:solidFill>
          <a:ln w="12700">
            <a:solidFill>
              <a:srgbClr val="2418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82512" y="201168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</a:t>
            </a:r>
            <a:pPr algn="ctr" indent="0" marL="0">
              <a:buNone/>
            </a:pPr>
            <a:r>
              <a:rPr lang="en-US" sz="1300" b="1" baseline="-40000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(Pond × Nivel) / 100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5486400" cy="1280160"/>
          </a:xfrm>
          <a:prstGeom prst="roundRect">
            <a:avLst>
              <a:gd name="adj" fmla="val 6429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3538728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08760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vs. nivel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74904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ponderado da la importancia; el nivel resume el desempeño del rasgo.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45352" y="3200400"/>
            <a:ext cx="5486400" cy="1280160"/>
          </a:xfrm>
          <a:prstGeom prst="roundRect">
            <a:avLst>
              <a:gd name="adj" fmla="val 6429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3538728"/>
            <a:ext cx="603504" cy="60350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96912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contra el testigo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296912" y="374904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Rasgos productivos se expresan como % del control comparable.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700016"/>
            <a:ext cx="5486400" cy="1280160"/>
          </a:xfrm>
          <a:prstGeom prst="roundRect">
            <a:avLst>
              <a:gd name="adj" fmla="val 6429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5038344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508760" y="48828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consolidada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248656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VM total es la suma de los VM parciales de cada característica.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45352" y="4700016"/>
            <a:ext cx="5486400" cy="1280160"/>
          </a:xfrm>
          <a:prstGeom prst="roundRect">
            <a:avLst>
              <a:gd name="adj" fmla="val 6429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5038344"/>
            <a:ext cx="603504" cy="60350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296912" y="48828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÷ 0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296912" y="5248656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suma de pesos es 0 se fija en 1: el sistema evita el error humano.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CRUZAMIENTOS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de decisión — Matriz N×N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SIVAR — Integración, Avances y Refactorización ·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cruza el Valor de Mérito con las distancias genéticas moleculares para recomendar las combinaciones más viables y accionables.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281428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cartesiano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514600"/>
            <a:ext cx="4206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flores contra todas (N×N): cada celda es un cruce potencial.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310128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3625596"/>
            <a:ext cx="603504" cy="60350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08760" y="34930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+ puntaje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858768"/>
            <a:ext cx="4206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par se le aplica la viabilidad y se le asigna su valor de mérito.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654296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4969764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48371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molecular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202936"/>
            <a:ext cx="4206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añade la distancia genética por marcadores para gestionar la diversidad.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1965960"/>
            <a:ext cx="5422392" cy="4023360"/>
          </a:xfrm>
          <a:prstGeom prst="roundRect">
            <a:avLst>
              <a:gd name="adj" fmla="val 2045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213055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N×N DE VIABILIDAD (ilustrativa)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237476" y="24505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♀ / ♂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7740396" y="246888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237476" y="283464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343900" y="246888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237476" y="343814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47404" y="246888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237476" y="404164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550908" y="246888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237476" y="4645152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154412" y="246888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237476" y="524865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740396" y="2834640"/>
            <a:ext cx="603504" cy="603504"/>
          </a:xfrm>
          <a:prstGeom prst="rect">
            <a:avLst/>
          </a:prstGeom>
          <a:solidFill>
            <a:srgbClr val="E4D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40396" y="28346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343900" y="2834640"/>
            <a:ext cx="603504" cy="603504"/>
          </a:xfrm>
          <a:prstGeom prst="rect">
            <a:avLst/>
          </a:prstGeom>
          <a:solidFill>
            <a:srgbClr val="00A8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43900" y="28346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947404" y="2834640"/>
            <a:ext cx="603504" cy="603504"/>
          </a:xfrm>
          <a:prstGeom prst="rect">
            <a:avLst/>
          </a:prstGeom>
          <a:solidFill>
            <a:srgbClr val="F3E4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947404" y="28346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550908" y="2834640"/>
            <a:ext cx="603504" cy="603504"/>
          </a:xfrm>
          <a:prstGeom prst="rect">
            <a:avLst/>
          </a:prstGeom>
          <a:solidFill>
            <a:srgbClr val="00A8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550908" y="28346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154412" y="2834640"/>
            <a:ext cx="603504" cy="603504"/>
          </a:xfrm>
          <a:prstGeom prst="rect">
            <a:avLst/>
          </a:prstGeom>
          <a:solidFill>
            <a:srgbClr val="00A8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154412" y="28346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740396" y="3438144"/>
            <a:ext cx="603504" cy="603504"/>
          </a:xfrm>
          <a:prstGeom prst="rect">
            <a:avLst/>
          </a:prstGeom>
          <a:solidFill>
            <a:srgbClr val="F3E4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40396" y="343814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343900" y="3438144"/>
            <a:ext cx="603504" cy="603504"/>
          </a:xfrm>
          <a:prstGeom prst="rect">
            <a:avLst/>
          </a:prstGeom>
          <a:solidFill>
            <a:srgbClr val="E4D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343900" y="343814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947404" y="3438144"/>
            <a:ext cx="603504" cy="603504"/>
          </a:xfrm>
          <a:prstGeom prst="rect">
            <a:avLst/>
          </a:prstGeom>
          <a:solidFill>
            <a:srgbClr val="F3E4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947404" y="343814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550908" y="3438144"/>
            <a:ext cx="603504" cy="603504"/>
          </a:xfrm>
          <a:prstGeom prst="rect">
            <a:avLst/>
          </a:prstGeom>
          <a:solidFill>
            <a:srgbClr val="F3E4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550908" y="343814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154412" y="3438144"/>
            <a:ext cx="603504" cy="603504"/>
          </a:xfrm>
          <a:prstGeom prst="rect">
            <a:avLst/>
          </a:prstGeom>
          <a:solidFill>
            <a:srgbClr val="00A8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154412" y="343814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740396" y="4041648"/>
            <a:ext cx="603504" cy="603504"/>
          </a:xfrm>
          <a:prstGeom prst="rect">
            <a:avLst/>
          </a:prstGeom>
          <a:solidFill>
            <a:srgbClr val="00A8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740396" y="40416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343900" y="4041648"/>
            <a:ext cx="603504" cy="603504"/>
          </a:xfrm>
          <a:prstGeom prst="rect">
            <a:avLst/>
          </a:prstGeom>
          <a:solidFill>
            <a:srgbClr val="00A8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343900" y="40416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947404" y="4041648"/>
            <a:ext cx="603504" cy="603504"/>
          </a:xfrm>
          <a:prstGeom prst="rect">
            <a:avLst/>
          </a:prstGeom>
          <a:solidFill>
            <a:srgbClr val="E4D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947404" y="40416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550908" y="4041648"/>
            <a:ext cx="603504" cy="603504"/>
          </a:xfrm>
          <a:prstGeom prst="rect">
            <a:avLst/>
          </a:prstGeom>
          <a:solidFill>
            <a:srgbClr val="F3E4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550908" y="40416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0154412" y="4041648"/>
            <a:ext cx="603504" cy="603504"/>
          </a:xfrm>
          <a:prstGeom prst="rect">
            <a:avLst/>
          </a:prstGeom>
          <a:solidFill>
            <a:srgbClr val="F3E4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0154412" y="40416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740396" y="4645152"/>
            <a:ext cx="603504" cy="603504"/>
          </a:xfrm>
          <a:prstGeom prst="rect">
            <a:avLst/>
          </a:prstGeom>
          <a:solidFill>
            <a:srgbClr val="F3E4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740396" y="46451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343900" y="4645152"/>
            <a:ext cx="603504" cy="603504"/>
          </a:xfrm>
          <a:prstGeom prst="rect">
            <a:avLst/>
          </a:prstGeom>
          <a:solidFill>
            <a:srgbClr val="F3E4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343900" y="46451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8947404" y="4645152"/>
            <a:ext cx="603504" cy="603504"/>
          </a:xfrm>
          <a:prstGeom prst="rect">
            <a:avLst/>
          </a:prstGeom>
          <a:solidFill>
            <a:srgbClr val="F3E4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947404" y="46451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9550908" y="4645152"/>
            <a:ext cx="603504" cy="603504"/>
          </a:xfrm>
          <a:prstGeom prst="rect">
            <a:avLst/>
          </a:prstGeom>
          <a:solidFill>
            <a:srgbClr val="E4D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550908" y="46451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0154412" y="4645152"/>
            <a:ext cx="603504" cy="603504"/>
          </a:xfrm>
          <a:prstGeom prst="rect">
            <a:avLst/>
          </a:prstGeom>
          <a:solidFill>
            <a:srgbClr val="00A8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0154412" y="46451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740396" y="5248656"/>
            <a:ext cx="603504" cy="603504"/>
          </a:xfrm>
          <a:prstGeom prst="rect">
            <a:avLst/>
          </a:prstGeom>
          <a:solidFill>
            <a:srgbClr val="00A8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740396" y="52486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8343900" y="5248656"/>
            <a:ext cx="603504" cy="603504"/>
          </a:xfrm>
          <a:prstGeom prst="rect">
            <a:avLst/>
          </a:prstGeom>
          <a:solidFill>
            <a:srgbClr val="00A8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343900" y="52486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947404" y="5248656"/>
            <a:ext cx="603504" cy="603504"/>
          </a:xfrm>
          <a:prstGeom prst="rect">
            <a:avLst/>
          </a:prstGeom>
          <a:solidFill>
            <a:srgbClr val="F3E4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947404" y="52486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9550908" y="5248656"/>
            <a:ext cx="603504" cy="603504"/>
          </a:xfrm>
          <a:prstGeom prst="rect">
            <a:avLst/>
          </a:prstGeom>
          <a:solidFill>
            <a:srgbClr val="00A8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9550908" y="52486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0154412" y="5248656"/>
            <a:ext cx="603504" cy="603504"/>
          </a:xfrm>
          <a:prstGeom prst="rect">
            <a:avLst/>
          </a:prstGeom>
          <a:solidFill>
            <a:srgbClr val="E4D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0154412" y="52486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740396" y="6016752"/>
            <a:ext cx="201168" cy="201168"/>
          </a:xfrm>
          <a:prstGeom prst="rect">
            <a:avLst/>
          </a:prstGeom>
          <a:solidFill>
            <a:srgbClr val="00A85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996428" y="598017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 (VM)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9157716" y="6016752"/>
            <a:ext cx="201168" cy="201168"/>
          </a:xfrm>
          <a:prstGeom prst="rect">
            <a:avLst/>
          </a:prstGeom>
          <a:solidFill>
            <a:srgbClr val="F3E4E4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9413748" y="598017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viable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10575036" y="6016752"/>
            <a:ext cx="201168" cy="201168"/>
          </a:xfrm>
          <a:prstGeom prst="rect">
            <a:avLst/>
          </a:prstGeom>
          <a:solidFill>
            <a:srgbClr val="E4DEE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10831068" y="598017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602691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Bioinformática</a:t>
            </a:r>
            <a:endParaRPr lang="en-US" sz="3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09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es rápido y, sobre todo, los datos son confiables</a:t>
            </a:r>
            <a:endParaRPr lang="en-US" sz="1400" dirty="0"/>
          </a:p>
        </p:txBody>
      </p:sp>
      <p:pic>
        <p:nvPicPr>
          <p:cNvPr id="6" name="Image 0" descr="assets/disc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46888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CALIDAD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chequeo end-to-end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SIVAR — Integración, Avances y Refactorización ·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conjunto de salvaguardas mantiene el Data Lake confiable en cada módulo.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2743200" cy="512064"/>
          </a:xfrm>
          <a:prstGeom prst="rect">
            <a:avLst/>
          </a:prstGeom>
          <a:solidFill>
            <a:srgbClr val="602691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0" y="2057400"/>
            <a:ext cx="8531352" cy="512064"/>
          </a:xfrm>
          <a:prstGeom prst="rect">
            <a:avLst/>
          </a:prstGeom>
          <a:solidFill>
            <a:srgbClr val="60269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05740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057400"/>
            <a:ext cx="8348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Salvaguarda / punto de chequeo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69464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569464"/>
            <a:ext cx="853135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56946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Floración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569464"/>
            <a:ext cx="8165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2 fases + 4 reglas (origen, parcela, variedad, proyecto)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81528"/>
            <a:ext cx="2743200" cy="512064"/>
          </a:xfrm>
          <a:prstGeom prst="rect">
            <a:avLst/>
          </a:prstGeom>
          <a:solidFill>
            <a:srgbClr val="F6F3FB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3081528"/>
            <a:ext cx="8531352" cy="512064"/>
          </a:xfrm>
          <a:prstGeom prst="rect">
            <a:avLst/>
          </a:prstGeom>
          <a:solidFill>
            <a:srgbClr val="F6F3FB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8152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Cruzamientos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081528"/>
            <a:ext cx="8165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temporal, sexo, exclusión de vacíos y protección ÷ 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93592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3593592"/>
            <a:ext cx="853135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59359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Cruzamientos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593592"/>
            <a:ext cx="8165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de fuentes: Banco Germoplasma → Prueba Regional → Estado III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05656"/>
            <a:ext cx="2743200" cy="512064"/>
          </a:xfrm>
          <a:prstGeom prst="rect">
            <a:avLst/>
          </a:prstGeom>
          <a:solidFill>
            <a:srgbClr val="F6F3FB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4105656"/>
            <a:ext cx="8531352" cy="512064"/>
          </a:xfrm>
          <a:prstGeom prst="rect">
            <a:avLst/>
          </a:prstGeom>
          <a:solidFill>
            <a:srgbClr val="F6F3FB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10565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Siembra Campo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4105656"/>
            <a:ext cx="8165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obligatorios y protección contra ciclos en la genealogía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617720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4617720"/>
            <a:ext cx="853135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461772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Siembra Campo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383280" y="4617720"/>
            <a:ext cx="8165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atómicas y unicidad al trasladar lotes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5129784"/>
            <a:ext cx="2743200" cy="512064"/>
          </a:xfrm>
          <a:prstGeom prst="rect">
            <a:avLst/>
          </a:prstGeom>
          <a:solidFill>
            <a:srgbClr val="F6F3FB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5129784"/>
            <a:ext cx="8531352" cy="512064"/>
          </a:xfrm>
          <a:prstGeom prst="rect">
            <a:avLst/>
          </a:prstGeom>
          <a:solidFill>
            <a:srgbClr val="F6F3FB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512978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383280" y="5129784"/>
            <a:ext cx="8165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 estandarizados y normalización de decimales (coma → punto)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CALIDAD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Linaje y Single Source of Truth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SIVAR — Integración, Avances y Refactorización ·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del Data Lake es la conexión: un mismo material se sigue desde la siembra hasta la sugerencia de cruce, y su desempeño real retroalimenta el modelo.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475738" cy="2194560"/>
          </a:xfrm>
          <a:prstGeom prst="roundRect">
            <a:avLst>
              <a:gd name="adj" fmla="val 375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3589" y="2496312"/>
            <a:ext cx="822960" cy="82296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3383280"/>
            <a:ext cx="2256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Siembra Campo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74904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y ubicación.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978658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90138" y="2286000"/>
            <a:ext cx="2475738" cy="2194560"/>
          </a:xfrm>
          <a:prstGeom prst="roundRect">
            <a:avLst>
              <a:gd name="adj" fmla="val 3750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16527" y="2496312"/>
            <a:ext cx="822960" cy="82296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99866" y="3383280"/>
            <a:ext cx="2256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Floración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27298" y="374904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 contra la parcela.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911596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323076" y="2286000"/>
            <a:ext cx="2475738" cy="2194560"/>
          </a:xfrm>
          <a:prstGeom prst="roundRect">
            <a:avLst>
              <a:gd name="adj" fmla="val 375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49465" y="2496312"/>
            <a:ext cx="822960" cy="82296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32804" y="3383280"/>
            <a:ext cx="2256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cruces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60236" y="374904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floración + genética + pesos.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844534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256014" y="2286000"/>
            <a:ext cx="2475738" cy="2194560"/>
          </a:xfrm>
          <a:prstGeom prst="roundRect">
            <a:avLst>
              <a:gd name="adj" fmla="val 3750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82403" y="2496312"/>
            <a:ext cx="822960" cy="82296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65742" y="3383280"/>
            <a:ext cx="2256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393174" y="374904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 la selección.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937760"/>
            <a:ext cx="11274552" cy="1051560"/>
          </a:xfrm>
          <a:prstGeom prst="roundRect">
            <a:avLst>
              <a:gd name="adj" fmla="val 7826"/>
            </a:avLst>
          </a:prstGeom>
          <a:solidFill>
            <a:srgbClr val="241832"/>
          </a:solidFill>
          <a:ln w="12700">
            <a:solidFill>
              <a:srgbClr val="2418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" y="5175504"/>
            <a:ext cx="566928" cy="566928"/>
          </a:xfrm>
          <a:prstGeom prst="ellipse">
            <a:avLst/>
          </a:prstGeom>
          <a:solidFill>
            <a:srgbClr val="00D57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554480" y="493776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Truth: 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unir genética y desempeño de campo en una sola base, el sistema relaciona el potencial de una variedad con su comportamiento real.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CALIDAD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Bioinformática integrada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SIVAR — Integración, Avances y Refactorización ·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potentes conectadas directamente dentro de la plataforma, sin depender de software externo.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670048"/>
            <a:ext cx="603504" cy="60350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0876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nativo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5176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Alineamiento local de secuencias de ADN/ARN.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45352" y="210312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2670048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96912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BioJava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296912" y="265176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 estructurales biológicos ligados a las métricas de campo.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4681728"/>
            <a:ext cx="603504" cy="60350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Visores genómicos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66344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JBrowse y Sequence Server para explorar el genoma.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681728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96912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conectados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296912" y="466344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resultados moleculares alimentan el motor de decisión.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602691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09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 alcanzado y visión a futuro</a:t>
            </a:r>
            <a:endParaRPr lang="en-US" sz="1400" dirty="0"/>
          </a:p>
        </p:txBody>
      </p:sp>
      <p:pic>
        <p:nvPicPr>
          <p:cNvPr id="6" name="Image 0" descr="assets/disc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46888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CIERRE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alcanzados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SIVAR — Integración, Avances y Refactorización ·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módulos están operativos y validados en producción.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670048"/>
            <a:ext cx="603504" cy="60350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0876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operativos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5176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Siembra Campo, Floración y Cruzamientos funcionando en producción.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45352" y="210312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2670048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96912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decisión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296912" y="265176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Viabilidad, valor de mérito, matriz N×N y sugerencias en uso real.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4681728"/>
            <a:ext cx="603504" cy="60350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unificada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66344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de campo, genética y molecular integradas + puente a SIPRO.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681728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96912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saneado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296912" y="466344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técnica pagada y alineación con estándares SETI.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CIERRE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futuro del Data Lake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SIVAR — Integración, Avances y Refactorización ·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oportunidades para consolidar la base y potenciar el valor de los datos.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670048"/>
            <a:ext cx="603504" cy="60350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0876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Tableros de calidad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5176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validación por campaña (tasa de rechazo, cobertura de datos).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45352" y="210312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2670048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96912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de datos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296912" y="265176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Diccionarios, versiones y linaje formal para escalar el Data Lake.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4681728"/>
            <a:ext cx="603504" cy="60350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predictiva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66344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Explotar la unión genética × desempeño para predecir el comportamiento.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681728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96912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296912" y="4663440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la plataforma como columna vertebral del mejoramiento.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103120" cy="65810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6517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para preguntas y observaciones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5029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 Henry Trujillo, Ph.D.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Mejoramiento Genético + Grupo de Biotecnología · CENICAÑA</a:t>
            </a:r>
            <a:endParaRPr lang="en-US" sz="1300" dirty="0"/>
          </a:p>
        </p:txBody>
      </p:sp>
      <p:pic>
        <p:nvPicPr>
          <p:cNvPr id="6" name="Image 1" descr="assets/disc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28600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CENICAÑA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SIVAR — Integración, Avances y Refactorización</dc:title>
  <dc:subject>PptxGenJS Presentation</dc:subject>
  <dc:creator>Jhon Henry Trujillo, Ph.D.</dc:creator>
  <cp:lastModifiedBy>Jhon Henry Trujillo, Ph.D.</cp:lastModifiedBy>
  <cp:revision>1</cp:revision>
  <dcterms:created xsi:type="dcterms:W3CDTF">2026-09-13T14:06:55Z</dcterms:created>
  <dcterms:modified xsi:type="dcterms:W3CDTF">2026-09-13T14:06:55Z</dcterms:modified>
</cp:coreProperties>
</file>