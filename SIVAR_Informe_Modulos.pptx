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194560" cy="6867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2148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AVANCES · SIVAR · 2026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51460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 Mejoramiento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plataforma SIVAR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3434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 en los módulos de Floración, Programación de Cruzamientos y Siembra Campo — lógica, matemática, base de datos y puntos de chequeo.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5623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Jhon Henry Trujillo, Ph.D.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Mejoramiento Genético + Grupo de Biotecnología · CENICAÑA</a:t>
            </a:r>
            <a:endParaRPr lang="en-US" sz="1300" dirty="0"/>
          </a:p>
        </p:txBody>
      </p:sp>
      <p:pic>
        <p:nvPicPr>
          <p:cNvPr id="7" name="Image 1" descr="assets/disc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2057400"/>
            <a:ext cx="21031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informe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avances · Módulos de Mejoramiento · SIVAR —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09928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01768" y="1709928"/>
            <a:ext cx="512064" cy="51206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91640" y="17465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arquitectura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11226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SIVAR, su stack y el ciclo de mejoramiento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1508760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0" y="1709928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0853928" y="1709928"/>
            <a:ext cx="512064" cy="51206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543800" y="17465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Floración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211226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floración e importación validada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355848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001768" y="3355848"/>
            <a:ext cx="512064" cy="51206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691640" y="33924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Cruzamientos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375818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de decisión: lógica y matemática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09360" y="3154680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0" y="3355848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10853928" y="3355848"/>
            <a:ext cx="512064" cy="51206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43800" y="33924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Siembra Campo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7543800" y="375818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Viveros, parcelas y trazabilidad en campo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800600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5001768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5001768" y="5001768"/>
            <a:ext cx="512064" cy="51206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691640" y="50383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Data Lake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1691640" y="540410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 datos como fuente única de verdad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09360" y="4800600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83680" y="5001768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33" name="Shape 31"/>
          <p:cNvSpPr/>
          <p:nvPr/>
        </p:nvSpPr>
        <p:spPr>
          <a:xfrm>
            <a:off x="10853928" y="5001768"/>
            <a:ext cx="512064" cy="51206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543800" y="50383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avances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7543800" y="540410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chequeo end-to-end, avances y próximos pasos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SIVAR en una mirada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avances · Módulos de Mejoramiento · SIVAR —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SIVAR (Plataforma de Información para el Mejoramiento) digitaliza y centraliza el programa de variedades de Cenicaña. Integra los datos de campo, genéticos y moleculares en un solo sistema para acelerar la ganancia genética.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529584" cy="1600200"/>
          </a:xfrm>
          <a:prstGeom prst="roundRect">
            <a:avLst>
              <a:gd name="adj" fmla="val 5143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67128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3163824" y="2194560"/>
            <a:ext cx="548640" cy="54864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83464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encadenados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136392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Floración · Cruzamientos · Siembra Campo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15968" y="1965960"/>
            <a:ext cx="3529584" cy="1600200"/>
          </a:xfrm>
          <a:prstGeom prst="roundRect">
            <a:avLst>
              <a:gd name="adj" fmla="val 5143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90288" y="2167128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7022592" y="2194560"/>
            <a:ext cx="548640" cy="54864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90288" y="283464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única de verdad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90288" y="3136392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como base del Data Lake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74736" y="1965960"/>
            <a:ext cx="3529584" cy="1600200"/>
          </a:xfrm>
          <a:prstGeom prst="roundRect">
            <a:avLst>
              <a:gd name="adj" fmla="val 5143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49056" y="2167128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N×N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10881360" y="2194560"/>
            <a:ext cx="548640" cy="54864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49056" y="283464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cruces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449056" y="3136392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Evaluada en milisegundos por el motor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11274552" cy="2194560"/>
          </a:xfrm>
          <a:prstGeom prst="roundRect">
            <a:avLst>
              <a:gd name="adj" fmla="val 3750"/>
            </a:avLst>
          </a:prstGeom>
          <a:solidFill>
            <a:srgbClr val="241832"/>
          </a:solidFill>
          <a:ln w="12700">
            <a:solidFill>
              <a:srgbClr val="2418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4434840"/>
            <a:ext cx="548640" cy="54864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417320" y="4480560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5074920"/>
            <a:ext cx="3392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 + TypeScript + Tailwind. Dashboards reactivos y asistentes de importación.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98264" y="4434840"/>
            <a:ext cx="548640" cy="54864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038344" y="4480560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370832" y="5074920"/>
            <a:ext cx="3392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(PHP). Reglas de negocio, el motor de cruzamientos y las validaciones.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19288" y="4434840"/>
            <a:ext cx="548640" cy="54864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59368" y="4480560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991856" y="5074920"/>
            <a:ext cx="3392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(conexión sivar) + puente a SIPRO. Datos de campo, genéticos y moleculares.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 mejoramiento y el flujo de datos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avances · Módulos de Mejoramiento · SIVAR —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módulos no son islas: la salida de uno es la entrada del siguiente. La trazabilidad recorre toda la cadena, del campo a la decisión de cruzamiento.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2514600" cy="2194560"/>
          </a:xfrm>
          <a:prstGeom prst="roundRect">
            <a:avLst>
              <a:gd name="adj" fmla="val 375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03020" y="2450592"/>
            <a:ext cx="822960" cy="82296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Siembra Campo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703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QUÉ variedad está sembrada y DÓNDE (vivero → parcela).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991612" y="3063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77184" y="2240280"/>
            <a:ext cx="2514600" cy="2194560"/>
          </a:xfrm>
          <a:prstGeom prst="roundRect">
            <a:avLst>
              <a:gd name="adj" fmla="val 3750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3004" y="2450592"/>
            <a:ext cx="822960" cy="82296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14344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Floración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60064" y="3703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QUÉ flores están disponibles HOY (sexo, polen, fecha).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911596" y="3063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97168" y="2240280"/>
            <a:ext cx="2514600" cy="2194560"/>
          </a:xfrm>
          <a:prstGeom prst="roundRect">
            <a:avLst>
              <a:gd name="adj" fmla="val 375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42988" y="2450592"/>
            <a:ext cx="822960" cy="82296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34328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Cruzamientos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80048" y="3703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QUÉ cruzar: viabilidad + valor de mérito + distancia.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831580" y="3063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217152" y="2240280"/>
            <a:ext cx="2514600" cy="2194560"/>
          </a:xfrm>
          <a:prstGeom prst="roundRect">
            <a:avLst>
              <a:gd name="adj" fmla="val 3750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62972" y="2450592"/>
            <a:ext cx="822960" cy="82296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54312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semilla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400032" y="3703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progenie que vuelve al campo como nuevo vivero.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892040"/>
            <a:ext cx="11274552" cy="1097280"/>
          </a:xfrm>
          <a:prstGeom prst="roundRect">
            <a:avLst>
              <a:gd name="adj" fmla="val 750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" y="5157216"/>
            <a:ext cx="566928" cy="566928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554480" y="50292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continua: 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evento de floración se valida contra la parcela sembrada, y cada cruce queda ligado a las flores reales de esa fecha. Nada entra al motor sin origen verificable.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602691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Floración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262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 importación validada de eventos de floración</a:t>
            </a:r>
            <a:endParaRPr lang="en-US" sz="1400" dirty="0"/>
          </a:p>
        </p:txBody>
      </p:sp>
      <p:pic>
        <p:nvPicPr>
          <p:cNvPr id="6" name="Image 0" descr="assets/disc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46888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FLORACIÓN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 y flujo del módulo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avances · Módulos de Mejoramiento · SIVAR —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los eventos de floración del banco y de los viveros, cada flor ligada a su parcela, variedad y proyecto. Es la materia prima del motor de cruzamientos.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48840"/>
            <a:ext cx="548640" cy="54864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1600" y="20939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vivero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40487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elige el vivero destino y sube el Excel de floración.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90088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172968"/>
            <a:ext cx="548640" cy="54864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71600" y="31181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de columnas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4290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 las columnas del Excel a los campos de SIVAR.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014216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197096"/>
            <a:ext cx="548640" cy="54864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371600" y="41422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(simulación)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45312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validate-import revisa fila por fila SIN escribir en la base.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038344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5221224"/>
            <a:ext cx="548640" cy="54864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371600" y="5166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47725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execute-import limpia e inserta solo si todo pasó la validación.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1965960"/>
            <a:ext cx="5422392" cy="3977640"/>
          </a:xfrm>
          <a:prstGeom prst="roundRect">
            <a:avLst>
              <a:gd name="adj" fmla="val 2069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2130552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floracion (ilustrativa)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37960" y="2514600"/>
            <a:ext cx="1626718" cy="518160"/>
          </a:xfrm>
          <a:prstGeom prst="rect">
            <a:avLst/>
          </a:prstGeom>
          <a:solidFill>
            <a:srgbClr val="60269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37960" y="2514600"/>
            <a:ext cx="1626718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Variedad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64678" y="2514600"/>
            <a:ext cx="1084478" cy="518160"/>
          </a:xfrm>
          <a:prstGeom prst="rect">
            <a:avLst/>
          </a:prstGeom>
          <a:solidFill>
            <a:srgbClr val="60269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64678" y="2514600"/>
            <a:ext cx="1084478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249156" y="2514600"/>
            <a:ext cx="813359" cy="518160"/>
          </a:xfrm>
          <a:prstGeom prst="rect">
            <a:avLst/>
          </a:prstGeom>
          <a:solidFill>
            <a:srgbClr val="60269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49156" y="2514600"/>
            <a:ext cx="813359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062515" y="2514600"/>
            <a:ext cx="1247150" cy="518160"/>
          </a:xfrm>
          <a:prstGeom prst="rect">
            <a:avLst/>
          </a:prstGeom>
          <a:solidFill>
            <a:srgbClr val="60269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062515" y="2514600"/>
            <a:ext cx="124715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1309665" y="2514600"/>
            <a:ext cx="650687" cy="518160"/>
          </a:xfrm>
          <a:prstGeom prst="rect">
            <a:avLst/>
          </a:prstGeom>
          <a:solidFill>
            <a:srgbClr val="60269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1309665" y="2514600"/>
            <a:ext cx="650687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537960" y="3032760"/>
            <a:ext cx="1626718" cy="518160"/>
          </a:xfrm>
          <a:prstGeom prst="rect">
            <a:avLst/>
          </a:prstGeom>
          <a:solidFill>
            <a:srgbClr val="FBFAFE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37960" y="3032760"/>
            <a:ext cx="1626718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CC01-1947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164678" y="3032760"/>
            <a:ext cx="1084478" cy="518160"/>
          </a:xfrm>
          <a:prstGeom prst="rect">
            <a:avLst/>
          </a:prstGeom>
          <a:solidFill>
            <a:srgbClr val="FBFAFE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164678" y="3032760"/>
            <a:ext cx="1084478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Hembra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249156" y="3032760"/>
            <a:ext cx="813359" cy="518160"/>
          </a:xfrm>
          <a:prstGeom prst="rect">
            <a:avLst/>
          </a:prstGeom>
          <a:solidFill>
            <a:srgbClr val="FBFAFE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249156" y="3032760"/>
            <a:ext cx="813359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0062515" y="3032760"/>
            <a:ext cx="1247150" cy="518160"/>
          </a:xfrm>
          <a:prstGeom prst="rect">
            <a:avLst/>
          </a:prstGeom>
          <a:solidFill>
            <a:srgbClr val="FBFAFE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062515" y="3032760"/>
            <a:ext cx="124715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10-09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1309665" y="3032760"/>
            <a:ext cx="650687" cy="518160"/>
          </a:xfrm>
          <a:prstGeom prst="rect">
            <a:avLst/>
          </a:prstGeom>
          <a:solidFill>
            <a:srgbClr val="FBFAFE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1309665" y="3032760"/>
            <a:ext cx="650687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537960" y="3550920"/>
            <a:ext cx="1626718" cy="51816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537960" y="3550920"/>
            <a:ext cx="1626718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CC85-92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164678" y="3550920"/>
            <a:ext cx="1084478" cy="51816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164678" y="3550920"/>
            <a:ext cx="1084478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Macho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249156" y="3550920"/>
            <a:ext cx="813359" cy="51816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249156" y="3550920"/>
            <a:ext cx="813359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0062515" y="3550920"/>
            <a:ext cx="1247150" cy="51816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062515" y="3550920"/>
            <a:ext cx="124715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10-09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1309665" y="3550920"/>
            <a:ext cx="650687" cy="51816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1309665" y="3550920"/>
            <a:ext cx="650687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537960" y="4069080"/>
            <a:ext cx="1626718" cy="518160"/>
          </a:xfrm>
          <a:prstGeom prst="rect">
            <a:avLst/>
          </a:prstGeom>
          <a:solidFill>
            <a:srgbClr val="FBFAFE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537960" y="4069080"/>
            <a:ext cx="1626718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CC22-1934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164678" y="4069080"/>
            <a:ext cx="1084478" cy="518160"/>
          </a:xfrm>
          <a:prstGeom prst="rect">
            <a:avLst/>
          </a:prstGeom>
          <a:solidFill>
            <a:srgbClr val="FBFAFE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164678" y="4069080"/>
            <a:ext cx="1084478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9249156" y="4069080"/>
            <a:ext cx="813359" cy="518160"/>
          </a:xfrm>
          <a:prstGeom prst="rect">
            <a:avLst/>
          </a:prstGeom>
          <a:solidFill>
            <a:srgbClr val="FBFAFE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249156" y="4069080"/>
            <a:ext cx="813359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10062515" y="4069080"/>
            <a:ext cx="1247150" cy="518160"/>
          </a:xfrm>
          <a:prstGeom prst="rect">
            <a:avLst/>
          </a:prstGeom>
          <a:solidFill>
            <a:srgbClr val="FBFAFE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062515" y="4069080"/>
            <a:ext cx="124715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11-09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1309665" y="4069080"/>
            <a:ext cx="650687" cy="518160"/>
          </a:xfrm>
          <a:prstGeom prst="rect">
            <a:avLst/>
          </a:prstGeom>
          <a:solidFill>
            <a:srgbClr val="FBFAFE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1309665" y="4069080"/>
            <a:ext cx="650687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537960" y="4587240"/>
            <a:ext cx="1626718" cy="51816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537960" y="4587240"/>
            <a:ext cx="1626718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CC93-4181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8164678" y="4587240"/>
            <a:ext cx="1084478" cy="51816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164678" y="4587240"/>
            <a:ext cx="1084478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9249156" y="4587240"/>
            <a:ext cx="813359" cy="51816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9249156" y="4587240"/>
            <a:ext cx="813359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0062515" y="4587240"/>
            <a:ext cx="1247150" cy="51816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0062515" y="4587240"/>
            <a:ext cx="124715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11-09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11309665" y="4587240"/>
            <a:ext cx="650687" cy="51816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1309665" y="4587240"/>
            <a:ext cx="650687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537960" y="5105400"/>
            <a:ext cx="1626718" cy="518160"/>
          </a:xfrm>
          <a:prstGeom prst="rect">
            <a:avLst/>
          </a:prstGeom>
          <a:solidFill>
            <a:srgbClr val="FBFAFE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537960" y="5105400"/>
            <a:ext cx="1626718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V71-51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8164678" y="5105400"/>
            <a:ext cx="1084478" cy="518160"/>
          </a:xfrm>
          <a:prstGeom prst="rect">
            <a:avLst/>
          </a:prstGeom>
          <a:solidFill>
            <a:srgbClr val="FBFAFE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8164678" y="5105400"/>
            <a:ext cx="1084478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Hembra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9249156" y="5105400"/>
            <a:ext cx="813359" cy="518160"/>
          </a:xfrm>
          <a:prstGeom prst="rect">
            <a:avLst/>
          </a:prstGeom>
          <a:solidFill>
            <a:srgbClr val="FBFAFE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249156" y="5105400"/>
            <a:ext cx="813359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10062515" y="5105400"/>
            <a:ext cx="1247150" cy="518160"/>
          </a:xfrm>
          <a:prstGeom prst="rect">
            <a:avLst/>
          </a:prstGeom>
          <a:solidFill>
            <a:srgbClr val="FBFAFE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10062515" y="5105400"/>
            <a:ext cx="124715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11-09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11309665" y="5105400"/>
            <a:ext cx="650687" cy="518160"/>
          </a:xfrm>
          <a:prstGeom prst="rect">
            <a:avLst/>
          </a:prstGeom>
          <a:solidFill>
            <a:srgbClr val="FBFAFE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1309665" y="5105400"/>
            <a:ext cx="650687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85" name="Text 83"/>
          <p:cNvSpPr txBox="1"/>
          <p:nvPr/>
        </p:nvSpPr>
        <p:spPr>
          <a:xfrm>
            <a:off x="6537960" y="56144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flor válida entra con estado = 0 (disponible para el motor de cruces).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FLORACIÓN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Lógica: importación en dos fases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avances · Módulos de Mejoramiento · SIVAR —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separa validar de escribir. Nada llega a la base si la validación no pasa por completo — un principio de calidad que se repite en toda la plataforma.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486400" cy="1965960"/>
          </a:xfrm>
          <a:prstGeom prst="roundRect">
            <a:avLst>
              <a:gd name="adj" fmla="val 4186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2185416"/>
            <a:ext cx="566928" cy="566928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08760" y="2194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validate-import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803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en memoria. Recorre el Excel, aplica las 4 reglas y devuelve o bien la lista de errores (fila + mensaje) o bien el conteo de filas válidas. No inserta nada.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45352" y="1965960"/>
            <a:ext cx="5486400" cy="1965960"/>
          </a:xfrm>
          <a:prstGeom prst="roundRect">
            <a:avLst>
              <a:gd name="adj" fmla="val 4186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64808" y="2185416"/>
            <a:ext cx="566928" cy="566928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96912" y="2194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execute-import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288036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llama si la Fase 1 quedó sin errores. Limpia los datos e inserta en la tabla floracion con estado = 0 (disponible para cruzar).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11274552" cy="1874520"/>
          </a:xfrm>
          <a:prstGeom prst="roundRect">
            <a:avLst>
              <a:gd name="adj" fmla="val 4390"/>
            </a:avLst>
          </a:prstGeom>
          <a:solidFill>
            <a:srgbClr val="241832"/>
          </a:solidFill>
          <a:ln w="12700">
            <a:solidFill>
              <a:srgbClr val="2418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315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CAPTURADOS Y LIMPIEZA AUTOMÁTICA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709160"/>
            <a:ext cx="1000354" cy="384048"/>
          </a:xfrm>
          <a:prstGeom prst="roundRect">
            <a:avLst>
              <a:gd name="adj" fmla="val 50000"/>
            </a:avLst>
          </a:prstGeom>
          <a:solidFill>
            <a:srgbClr val="60269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709160"/>
            <a:ext cx="10003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variedad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96466" y="4709160"/>
            <a:ext cx="1935785" cy="384048"/>
          </a:xfrm>
          <a:prstGeom prst="roundRect">
            <a:avLst>
              <a:gd name="adj" fmla="val 50000"/>
            </a:avLst>
          </a:prstGeom>
          <a:solidFill>
            <a:srgbClr val="60269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896466" y="4709160"/>
            <a:ext cx="19357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sexo (Macho/Hembra)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996842" y="4709160"/>
            <a:ext cx="745236" cy="384048"/>
          </a:xfrm>
          <a:prstGeom prst="roundRect">
            <a:avLst>
              <a:gd name="adj" fmla="val 50000"/>
            </a:avLst>
          </a:prstGeom>
          <a:solidFill>
            <a:srgbClr val="60269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996842" y="4709160"/>
            <a:ext cx="745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06670" y="4709160"/>
            <a:ext cx="745236" cy="384048"/>
          </a:xfrm>
          <a:prstGeom prst="roundRect">
            <a:avLst>
              <a:gd name="adj" fmla="val 50000"/>
            </a:avLst>
          </a:prstGeom>
          <a:solidFill>
            <a:srgbClr val="60269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06670" y="4709160"/>
            <a:ext cx="745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816498" y="4709160"/>
            <a:ext cx="1680667" cy="384048"/>
          </a:xfrm>
          <a:prstGeom prst="roundRect">
            <a:avLst>
              <a:gd name="adj" fmla="val 50000"/>
            </a:avLst>
          </a:prstGeom>
          <a:solidFill>
            <a:srgbClr val="60269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816498" y="4709160"/>
            <a:ext cx="16806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(id_pr)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661758" y="4709160"/>
            <a:ext cx="1170432" cy="384048"/>
          </a:xfrm>
          <a:prstGeom prst="roundRect">
            <a:avLst>
              <a:gd name="adj" fmla="val 50000"/>
            </a:avLst>
          </a:prstGeom>
          <a:solidFill>
            <a:srgbClr val="60269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661758" y="470916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= 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996782" y="4709160"/>
            <a:ext cx="1595628" cy="384048"/>
          </a:xfrm>
          <a:prstGeom prst="roundRect">
            <a:avLst>
              <a:gd name="adj" fmla="val 50000"/>
            </a:avLst>
          </a:prstGeom>
          <a:solidFill>
            <a:srgbClr val="60269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996782" y="4709160"/>
            <a:ext cx="15956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bolsa_común = 0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52578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al insertar:  </a:t>
            </a:r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 el sexo (Macho/Hembra), parsea la fecha (serial de Excel o DD/MM/AAAA → AAAA-MM-DD) y convierte el polen a numérico.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FLORACIÓN · PUNTOS DE CHEQUEO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reglas de validación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avances · Módulos de Mejoramiento · SIVAR —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controlador de importación bloquea el dato erróneo en el origen. Si una sola fila falla, no se inserta nada y se reporta la fila con su mensaje.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486400" cy="1554480"/>
          </a:xfrm>
          <a:prstGeom prst="roundRect">
            <a:avLst>
              <a:gd name="adj" fmla="val 5294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2258568"/>
            <a:ext cx="603504" cy="60350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08760" y="22677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/ vivero coincide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761488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origen del Excel debe coincidir con el identificador del vivero, el id vivero-parcela o el id_plot_origen de la parcela.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45352" y="2011680"/>
            <a:ext cx="5486400" cy="1554480"/>
          </a:xfrm>
          <a:prstGeom prst="roundRect">
            <a:avLst>
              <a:gd name="adj" fmla="val 5294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258568"/>
            <a:ext cx="603504" cy="60350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96912" y="22677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parcela existe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296912" y="2761488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parcela del Excel debe estar registrada en ese vivero dentro de SIVAR.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5486400" cy="1554480"/>
          </a:xfrm>
          <a:prstGeom prst="roundRect">
            <a:avLst>
              <a:gd name="adj" fmla="val 5294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4087368"/>
            <a:ext cx="603504" cy="60350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40965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Variedad consistente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590288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variedad del Excel debe coincidir con la registrada para esa parcela. Evita el etiquetado erróneo.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45352" y="3840480"/>
            <a:ext cx="5486400" cy="1554480"/>
          </a:xfrm>
          <a:prstGeom prst="roundRect">
            <a:avLst>
              <a:gd name="adj" fmla="val 5294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087368"/>
            <a:ext cx="603504" cy="60350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96912" y="40965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coincide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296912" y="4590288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del Excel debe coincidir con el proyecto asignado al vivero.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602691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· NÚCLEO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Cruzamientos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262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de decisión: viabilidad, valor de mérito y matriz</a:t>
            </a:r>
            <a:endParaRPr lang="en-US" sz="1400" dirty="0"/>
          </a:p>
        </p:txBody>
      </p:sp>
      <p:pic>
        <p:nvPicPr>
          <p:cNvPr id="6" name="Image 0" descr="assets/disc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46888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CRUZAMIENTOS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proceso, paso a paso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avances · Módulos de Mejoramiento · SIVAR —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real, según las rutas del sistema: de elegir el proyecto a obtener las sugerencias rankeadas. Convierte miles de combinaciones en un Top accionable.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577840" cy="786384"/>
          </a:xfrm>
          <a:prstGeom prst="roundRect">
            <a:avLst>
              <a:gd name="adj" fmla="val 10465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148840"/>
            <a:ext cx="402336" cy="402336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05740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iniciales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36829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crossingInitialData: proyectos con flores disponibles en la ventana.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825496"/>
            <a:ext cx="5577840" cy="786384"/>
          </a:xfrm>
          <a:prstGeom prst="roundRect">
            <a:avLst>
              <a:gd name="adj" fmla="val 10465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008376"/>
            <a:ext cx="402336" cy="402336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2916936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Ponderación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2278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parametizeWeightedCrossing: pesos y niveles por característica.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685032"/>
            <a:ext cx="5577840" cy="786384"/>
          </a:xfrm>
          <a:prstGeom prst="roundRect">
            <a:avLst>
              <a:gd name="adj" fmla="val 10465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867912"/>
            <a:ext cx="402336" cy="402336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9808" y="3867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98448" y="3776472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08736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generateMatrix: matriz N×N con viabilidad, VM y distancias.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544568"/>
            <a:ext cx="5577840" cy="786384"/>
          </a:xfrm>
          <a:prstGeom prst="roundRect">
            <a:avLst>
              <a:gd name="adj" fmla="val 10465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4727448"/>
            <a:ext cx="402336" cy="402336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9808" y="4727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298448" y="463600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49469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suggestionCrossings: cruces viables rankeados por valor de mérito.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5404104"/>
            <a:ext cx="5577840" cy="786384"/>
          </a:xfrm>
          <a:prstGeom prst="roundRect">
            <a:avLst>
              <a:gd name="adj" fmla="val 10465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" y="5586984"/>
            <a:ext cx="402336" cy="402336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9808" y="5586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298448" y="549554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298448" y="580644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 común de polen / asignar flor a proyecto.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0" y="1965960"/>
            <a:ext cx="5330952" cy="4160520"/>
          </a:xfrm>
          <a:prstGeom prst="roundRect">
            <a:avLst>
              <a:gd name="adj" fmla="val 1978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0" y="213055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SUGERENCIAS RANKEADAS (ilustrativas)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629400" y="2560320"/>
            <a:ext cx="4873752" cy="539496"/>
          </a:xfrm>
          <a:prstGeom prst="roundRect">
            <a:avLst>
              <a:gd name="adj" fmla="val 8475"/>
            </a:avLst>
          </a:prstGeom>
          <a:solidFill>
            <a:srgbClr val="FBFAFE"/>
          </a:solidFill>
          <a:ln w="9525">
            <a:solidFill>
              <a:srgbClr val="E4DE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29984" y="2674620"/>
            <a:ext cx="310896" cy="310896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729984" y="2560320"/>
            <a:ext cx="3108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2560320"/>
            <a:ext cx="27249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CC01-1947 ♀ × CC85-92 ♂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9948672" y="2560320"/>
            <a:ext cx="777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8.4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10725912" y="2560320"/>
            <a:ext cx="7315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0.62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629400" y="3209544"/>
            <a:ext cx="4873752" cy="539496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4DE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29984" y="3323844"/>
            <a:ext cx="310896" cy="310896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729984" y="3209544"/>
            <a:ext cx="3108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178040" y="3209544"/>
            <a:ext cx="27249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V71-51 ♀ × CC93-4181 ♂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9948672" y="3209544"/>
            <a:ext cx="777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7.9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10725912" y="3209544"/>
            <a:ext cx="7315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0.58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29400" y="3858768"/>
            <a:ext cx="4873752" cy="539496"/>
          </a:xfrm>
          <a:prstGeom prst="roundRect">
            <a:avLst>
              <a:gd name="adj" fmla="val 8475"/>
            </a:avLst>
          </a:prstGeom>
          <a:solidFill>
            <a:srgbClr val="FBFAFE"/>
          </a:solidFill>
          <a:ln w="9525">
            <a:solidFill>
              <a:srgbClr val="E4DEE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29984" y="3973068"/>
            <a:ext cx="310896" cy="310896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729984" y="3858768"/>
            <a:ext cx="3108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7178040" y="3858768"/>
            <a:ext cx="27249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CC22-1934 ♀ × CC85-92 ♂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948672" y="3858768"/>
            <a:ext cx="777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7.1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10725912" y="3858768"/>
            <a:ext cx="7315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0.41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629400" y="4507992"/>
            <a:ext cx="4873752" cy="539496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4DEE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29984" y="4622292"/>
            <a:ext cx="310896" cy="310896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729984" y="4507992"/>
            <a:ext cx="3108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7178040" y="4507992"/>
            <a:ext cx="27249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CC01-1947 ♀ × CC93-4181 ♂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9948672" y="4507992"/>
            <a:ext cx="777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6.5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10725912" y="4507992"/>
            <a:ext cx="7315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0.55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629400" y="5157216"/>
            <a:ext cx="4873752" cy="539496"/>
          </a:xfrm>
          <a:prstGeom prst="roundRect">
            <a:avLst>
              <a:gd name="adj" fmla="val 8475"/>
            </a:avLst>
          </a:prstGeom>
          <a:solidFill>
            <a:srgbClr val="FBFAFE"/>
          </a:solidFill>
          <a:ln w="9525">
            <a:solidFill>
              <a:srgbClr val="E4DEE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29984" y="5271516"/>
            <a:ext cx="310896" cy="310896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729984" y="5157216"/>
            <a:ext cx="3108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7178040" y="5157216"/>
            <a:ext cx="27249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V71-51 ♀ × CC85-92 ♂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9948672" y="5157216"/>
            <a:ext cx="777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6.0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10725912" y="5157216"/>
            <a:ext cx="7315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0.37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6629400" y="5815584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= valor de mérito · d = distancia genética molecular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CRUZAMIENTOS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Parametrización: pesos y niveles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avances · Módulos de Mejoramiento · SIVAR —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mejorador define el modelo por característica. Cada rasgo tiene un peso (importancia) y un nivel máximo tolerado, y ambos dependen del proyecto y del ambiente.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532120" cy="2103120"/>
          </a:xfrm>
          <a:prstGeom prst="roundRect">
            <a:avLst>
              <a:gd name="adj" fmla="val 3913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2194560"/>
            <a:ext cx="585216" cy="585216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2240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Ponderado (peso)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92608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relativa de la característica dentro del valor de mérito. La suma de pesos normaliza el modelo (Σ ponderados).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9632" y="1965960"/>
            <a:ext cx="5532120" cy="2103120"/>
          </a:xfrm>
          <a:prstGeom prst="roundRect">
            <a:avLst>
              <a:gd name="adj" fmla="val 3913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9944" y="2194560"/>
            <a:ext cx="585216" cy="585216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96912" y="2240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máximo tolerado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28232" y="292608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viabilidad: cuánto puede sumar la característica entre los dos padres antes de descartar el cruce.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11274552" cy="1737360"/>
          </a:xfrm>
          <a:prstGeom prst="roundRect">
            <a:avLst>
              <a:gd name="adj" fmla="val 4737"/>
            </a:avLst>
          </a:prstGeom>
          <a:solidFill>
            <a:srgbClr val="241832"/>
          </a:solidFill>
          <a:ln w="12700">
            <a:solidFill>
              <a:srgbClr val="2418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4622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ES ESPECÍFICO POR PROYECTO × AMBIENTE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846320"/>
            <a:ext cx="3529584" cy="960120"/>
          </a:xfrm>
          <a:prstGeom prst="roundRect">
            <a:avLst>
              <a:gd name="adj" fmla="val 7619"/>
            </a:avLst>
          </a:prstGeom>
          <a:solidFill>
            <a:srgbClr val="60269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98348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Semiseco / Seco-Semiseco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349240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Caracterización 2005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52544" y="4846320"/>
            <a:ext cx="3529584" cy="960120"/>
          </a:xfrm>
          <a:prstGeom prst="roundRect">
            <a:avLst>
              <a:gd name="adj" fmla="val 7619"/>
            </a:avLst>
          </a:prstGeom>
          <a:solidFill>
            <a:srgbClr val="60269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35424" y="498348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Húmedo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35424" y="5349240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Caracterización 2005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73568" y="4846320"/>
            <a:ext cx="3529584" cy="960120"/>
          </a:xfrm>
          <a:prstGeom prst="roundRect">
            <a:avLst>
              <a:gd name="adj" fmla="val 7619"/>
            </a:avLst>
          </a:prstGeom>
          <a:solidFill>
            <a:srgbClr val="60269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156448" y="498348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Piedemonte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156448" y="5349240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Caracterización 2014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87044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pesos y niveles se guardan con modifyFeatures (upsert por característica × proyecto × ambiente).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CRUZAMIENTOS · MATEMÁTICA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biológicas del motor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avances · Módulos de Mejoramiento · SIVAR —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puntuar nada, el motor filtra lo biológicamente imposible. Dos restricciones acotan el universo de cruces candidatos.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1274552" cy="1783080"/>
          </a:xfrm>
          <a:prstGeom prst="roundRect">
            <a:avLst>
              <a:gd name="adj" fmla="val 4615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468880"/>
            <a:ext cx="731520" cy="73152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2194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Sincronización de floración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60604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solo considera flores con fecha en la ventana [ayer, hoy], estado = 0 y bolsa_común = 0. Fundamento biológico: solo puede cruzarse el polen y la flor que están receptivos simultáneamente.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1274552" cy="2103120"/>
          </a:xfrm>
          <a:prstGeom prst="roundRect">
            <a:avLst>
              <a:gd name="adj" fmla="val 3913"/>
            </a:avLst>
          </a:prstGeom>
          <a:solidFill>
            <a:srgbClr val="241832"/>
          </a:solidFill>
          <a:ln w="12700">
            <a:solidFill>
              <a:srgbClr val="2418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617720"/>
            <a:ext cx="731520" cy="73152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828800" y="4160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Dirección del cruce (sexo)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45720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cruce es dirigido: madre (A) × padre (B). El par se descarta si A no es femenino o B no es masculino.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28800" y="5166360"/>
            <a:ext cx="4663440" cy="658368"/>
          </a:xfrm>
          <a:prstGeom prst="roundRect">
            <a:avLst>
              <a:gd name="adj" fmla="val 13889"/>
            </a:avLst>
          </a:prstGeom>
          <a:solidFill>
            <a:srgbClr val="60269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965960" y="516636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Madre  ♀   </a:t>
            </a:r>
            <a:pPr indent="0" marL="0">
              <a:buNone/>
            </a:pPr>
            <a:r>
              <a:rPr lang="en-US" sz="120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Hembra · HF · HD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5166360"/>
            <a:ext cx="4663440" cy="658368"/>
          </a:xfrm>
          <a:prstGeom prst="roundRect">
            <a:avLst>
              <a:gd name="adj" fmla="val 13889"/>
            </a:avLst>
          </a:prstGeom>
          <a:solidFill>
            <a:srgbClr val="00A8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03720" y="516636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Padre  ♂   </a:t>
            </a:r>
            <a:pPr indent="0" marL="0">
              <a:buNone/>
            </a:pPr>
            <a:r>
              <a:rPr lang="en-US" sz="1200" dirty="0">
                <a:solidFill>
                  <a:srgbClr val="E6F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Macho · MF · MD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CRUZAMIENTOS · MATEMÁTICA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valor crudo a “nivel”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avances · Módulos de Mejoramiento · SIVAR —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corazón del cálculo: cada medición de campo se convierte en un nivel comparable. Así se pueden sumar rasgos tan distintos como sacarosa, altura y roya.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2185416"/>
            <a:ext cx="566928" cy="566928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81328" y="22037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Rasgos productivos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5328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expresan relativos al testigo (control). Ej.: TCHM, sacarosa, altura, población, diámetro, volcamiento.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81328" y="3081528"/>
            <a:ext cx="4160520" cy="329184"/>
          </a:xfrm>
          <a:prstGeom prst="roundRect">
            <a:avLst>
              <a:gd name="adj" fmla="val 50000"/>
            </a:avLst>
          </a:prstGeom>
          <a:solidFill>
            <a:srgbClr val="24183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81328" y="308152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= (valor × 100) / testigo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45352" y="1965960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2185416"/>
            <a:ext cx="566928" cy="566928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69480" y="22037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Enfermedades (roya)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25328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el valor de incidencia directo (%). Ej.: roya café, roya naranja.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9480" y="3081528"/>
            <a:ext cx="4160520" cy="329184"/>
          </a:xfrm>
          <a:prstGeom prst="roundRect">
            <a:avLst>
              <a:gd name="adj" fmla="val 50000"/>
            </a:avLst>
          </a:prstGeom>
          <a:solidFill>
            <a:srgbClr val="24183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69480" y="308152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= valor (%)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" y="4014216"/>
            <a:ext cx="566928" cy="566928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481328" y="40325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Discretización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43616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índice se convierte en un nivel mediante rangos configurables, en dos escalas: viabilidad y mérito.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481328" y="4910328"/>
            <a:ext cx="4160520" cy="329184"/>
          </a:xfrm>
          <a:prstGeom prst="roundRect">
            <a:avLst>
              <a:gd name="adj" fmla="val 50000"/>
            </a:avLst>
          </a:prstGeom>
          <a:solidFill>
            <a:srgbClr val="24183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481328" y="491032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= calificación(índice)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45352" y="3794760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4014216"/>
            <a:ext cx="566928" cy="566928"/>
          </a:xfrm>
          <a:prstGeom prst="ellipse">
            <a:avLst/>
          </a:prstGeom>
          <a:solidFill>
            <a:srgbClr val="C24B4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269480" y="40325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faltante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269480" y="43616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Penalización explícita para no premiar información ausente.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69480" y="4910328"/>
            <a:ext cx="4160520" cy="329184"/>
          </a:xfrm>
          <a:prstGeom prst="roundRect">
            <a:avLst>
              <a:gd name="adj" fmla="val 50000"/>
            </a:avLst>
          </a:prstGeom>
          <a:solidFill>
            <a:srgbClr val="24183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269480" y="491032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 (viabilidad) · 0 (mérito)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CRUZAMIENTOS · MATEMÁTICA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 Viabilidad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avances · Módulos de Mejoramiento · SIVAR —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característica con peso, la suma de niveles de los dos padres no puede superar el nivel máximo tolerado. Basta que una falle para descartar el cruce.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463040" y="2103120"/>
            <a:ext cx="9262872" cy="1051560"/>
          </a:xfrm>
          <a:prstGeom prst="roundRect">
            <a:avLst>
              <a:gd name="adj" fmla="val 7826"/>
            </a:avLst>
          </a:prstGeom>
          <a:solidFill>
            <a:srgbClr val="241832"/>
          </a:solidFill>
          <a:ln w="12700">
            <a:solidFill>
              <a:srgbClr val="2418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45920" y="2103120"/>
            <a:ext cx="8897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</a:t>
            </a:r>
            <a:pPr algn="ctr" indent="0" marL="0">
              <a:buNone/>
            </a:pPr>
            <a:r>
              <a:rPr lang="en-US" sz="1800" b="1" baseline="-40000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(Nivel</a:t>
            </a:r>
            <a:pPr algn="ctr" indent="0" marL="0">
              <a:buNone/>
            </a:pPr>
            <a:r>
              <a:rPr lang="en-US" sz="1600" b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A,c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Nivel</a:t>
            </a:r>
            <a:pPr algn="ctr" indent="0" marL="0">
              <a:buNone/>
            </a:pPr>
            <a:r>
              <a:rPr lang="en-US" sz="1600" b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B,c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≤  Nivel</a:t>
            </a:r>
            <a:pPr algn="ctr" indent="0" marL="0">
              <a:buNone/>
            </a:pPr>
            <a:r>
              <a:rPr lang="en-US" sz="1600" b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máx,c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863340"/>
            <a:ext cx="548640" cy="54864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17320" y="37033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evalúa por característica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05079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entran las características con ponderado &gt; 0.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45352" y="352044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3952" y="3863340"/>
            <a:ext cx="548640" cy="54864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05472" y="37033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del eslabón débil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205472" y="405079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sola característica falla el umbral, el cruce completo se marca no viable.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5010912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5353812"/>
            <a:ext cx="548640" cy="54864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417320" y="519379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Enfermedades siempre pesan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5541264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 y otras se evalúan aunque no haya testigo del rasgo.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45352" y="5010912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3952" y="5353812"/>
            <a:ext cx="548640" cy="54864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205472" y="519379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dato con respaldo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205472" y="5541264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falta el valor, se busca en la jerarquía BG → Prueba Regional → Estado III.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CRUZAMIENTOS · MATEMÁTICA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Mérito y ranking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avances · Módulos de Mejoramiento · SIVAR —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los cruces viables, el Valor de Mérito ordena de más a menos prometedor. Se calcula por característica y se acumula para cada padre.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2057400"/>
            <a:ext cx="5074920" cy="1005840"/>
          </a:xfrm>
          <a:prstGeom prst="roundRect">
            <a:avLst>
              <a:gd name="adj" fmla="val 8182"/>
            </a:avLst>
          </a:prstGeom>
          <a:solidFill>
            <a:srgbClr val="241832"/>
          </a:solidFill>
          <a:ln w="12700">
            <a:solidFill>
              <a:srgbClr val="2418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05740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</a:t>
            </a:r>
            <a:pPr algn="ctr" indent="0" marL="0">
              <a:buNone/>
            </a:pPr>
            <a:r>
              <a:rPr lang="en-US" sz="1400" b="1" baseline="-40000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(Pond × Nivel</a:t>
            </a:r>
            <a:pPr algn="ctr" indent="0" marL="0">
              <a:buNone/>
            </a:pPr>
            <a:r>
              <a:rPr lang="en-US" sz="1300" b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mérito</a:t>
            </a:r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/ 100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57400"/>
            <a:ext cx="5074920" cy="1005840"/>
          </a:xfrm>
          <a:prstGeom prst="roundRect">
            <a:avLst>
              <a:gd name="adj" fmla="val 8182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82512" y="205740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</a:t>
            </a:r>
            <a:pPr algn="ctr" indent="0" marL="0">
              <a:buNone/>
            </a:pPr>
            <a:r>
              <a:rPr lang="en-US" sz="1400" b="1" baseline="-40000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pPr algn="ctr" indent="0" marL="0">
              <a:buNone/>
            </a:pPr>
            <a:r>
              <a:rPr lang="en-US" sz="19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Σ VM</a:t>
            </a:r>
            <a:pPr algn="ctr" indent="0" marL="0">
              <a:buNone/>
            </a:pPr>
            <a:r>
              <a:rPr lang="en-US" sz="1300" b="1" baseline="-4000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33372" y="3680460"/>
            <a:ext cx="777240" cy="77724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52628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score por padre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892040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calcula VM para la madre (A) y otro para el padre (B) del par.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15968" y="342900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92140" y="3680460"/>
            <a:ext cx="777240" cy="77724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98848" y="452628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normalizados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44568" y="4892040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suma de ponderados evita que un rasgo domine; protección ÷0.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74736" y="342900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50908" y="3680460"/>
            <a:ext cx="777240" cy="77724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57616" y="452628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accionable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403336" y="4892040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mejorador ve, entre miles de combinaciones, las más prometedoras.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CRUZAMIENTOS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N×N y distancia genética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avances · Módulos de Mejoramiento · SIVAR —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arma el producto cartesiano de las flores disponibles, aplica viabilidad y VM a cada par, y cruza el resultado con la distancia molecular entre variedades.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2295144"/>
            <a:ext cx="566928" cy="566928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211226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cartesiano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44144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flores contra todas (N×N): cada celda es un cruce potencial.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310128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3639312"/>
            <a:ext cx="566928" cy="566928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463040" y="34564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+ puntaje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785616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par se le aplica la viabilidad y se le asigna su valor de mérito.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654296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" y="4983480"/>
            <a:ext cx="566928" cy="566928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463040" y="4800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molecular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12978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añade la distancia genética entre variedades (marcadores) para gestionar diversidad y evitar consanguinidad.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1965960"/>
            <a:ext cx="5422392" cy="4023360"/>
          </a:xfrm>
          <a:prstGeom prst="roundRect">
            <a:avLst>
              <a:gd name="adj" fmla="val 2045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2130552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N×N DE VIABILIDAD (ilustrativa)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146036" y="24505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♀ / ♂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7648956" y="2468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146036" y="28346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289036" y="2468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146036" y="3474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29116" y="2468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146036" y="41148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569196" y="2468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146036" y="47548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209276" y="2468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146036" y="53949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648956" y="2834640"/>
            <a:ext cx="640080" cy="640080"/>
          </a:xfrm>
          <a:prstGeom prst="rect">
            <a:avLst/>
          </a:prstGeom>
          <a:solidFill>
            <a:srgbClr val="E4DE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48956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89036" y="2834640"/>
            <a:ext cx="640080" cy="640080"/>
          </a:xfrm>
          <a:prstGeom prst="rect">
            <a:avLst/>
          </a:prstGeom>
          <a:solidFill>
            <a:srgbClr val="00A8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89036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929116" y="2834640"/>
            <a:ext cx="640080" cy="640080"/>
          </a:xfrm>
          <a:prstGeom prst="rect">
            <a:avLst/>
          </a:prstGeom>
          <a:solidFill>
            <a:srgbClr val="F3E4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929116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569196" y="2834640"/>
            <a:ext cx="640080" cy="640080"/>
          </a:xfrm>
          <a:prstGeom prst="rect">
            <a:avLst/>
          </a:prstGeom>
          <a:solidFill>
            <a:srgbClr val="00A8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569196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209276" y="2834640"/>
            <a:ext cx="640080" cy="640080"/>
          </a:xfrm>
          <a:prstGeom prst="rect">
            <a:avLst/>
          </a:prstGeom>
          <a:solidFill>
            <a:srgbClr val="00A8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9276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648956" y="3474720"/>
            <a:ext cx="640080" cy="640080"/>
          </a:xfrm>
          <a:prstGeom prst="rect">
            <a:avLst/>
          </a:prstGeom>
          <a:solidFill>
            <a:srgbClr val="F3E4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648956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289036" y="3474720"/>
            <a:ext cx="640080" cy="640080"/>
          </a:xfrm>
          <a:prstGeom prst="rect">
            <a:avLst/>
          </a:prstGeom>
          <a:solidFill>
            <a:srgbClr val="E4DE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89036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929116" y="3474720"/>
            <a:ext cx="640080" cy="640080"/>
          </a:xfrm>
          <a:prstGeom prst="rect">
            <a:avLst/>
          </a:prstGeom>
          <a:solidFill>
            <a:srgbClr val="F3E4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929116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569196" y="3474720"/>
            <a:ext cx="640080" cy="640080"/>
          </a:xfrm>
          <a:prstGeom prst="rect">
            <a:avLst/>
          </a:prstGeom>
          <a:solidFill>
            <a:srgbClr val="F3E4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569196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209276" y="3474720"/>
            <a:ext cx="640080" cy="640080"/>
          </a:xfrm>
          <a:prstGeom prst="rect">
            <a:avLst/>
          </a:prstGeom>
          <a:solidFill>
            <a:srgbClr val="00A8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9276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648956" y="4114800"/>
            <a:ext cx="640080" cy="640080"/>
          </a:xfrm>
          <a:prstGeom prst="rect">
            <a:avLst/>
          </a:prstGeom>
          <a:solidFill>
            <a:srgbClr val="00A8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648956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289036" y="4114800"/>
            <a:ext cx="640080" cy="640080"/>
          </a:xfrm>
          <a:prstGeom prst="rect">
            <a:avLst/>
          </a:prstGeom>
          <a:solidFill>
            <a:srgbClr val="00A8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289036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929116" y="4114800"/>
            <a:ext cx="640080" cy="640080"/>
          </a:xfrm>
          <a:prstGeom prst="rect">
            <a:avLst/>
          </a:prstGeom>
          <a:solidFill>
            <a:srgbClr val="E4DE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929116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569196" y="4114800"/>
            <a:ext cx="640080" cy="640080"/>
          </a:xfrm>
          <a:prstGeom prst="rect">
            <a:avLst/>
          </a:prstGeom>
          <a:solidFill>
            <a:srgbClr val="F3E4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569196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0209276" y="4114800"/>
            <a:ext cx="640080" cy="640080"/>
          </a:xfrm>
          <a:prstGeom prst="rect">
            <a:avLst/>
          </a:prstGeom>
          <a:solidFill>
            <a:srgbClr val="F3E4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0209276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648956" y="4754880"/>
            <a:ext cx="640080" cy="640080"/>
          </a:xfrm>
          <a:prstGeom prst="rect">
            <a:avLst/>
          </a:prstGeom>
          <a:solidFill>
            <a:srgbClr val="F3E4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648956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289036" y="4754880"/>
            <a:ext cx="640080" cy="640080"/>
          </a:xfrm>
          <a:prstGeom prst="rect">
            <a:avLst/>
          </a:prstGeom>
          <a:solidFill>
            <a:srgbClr val="F3E4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289036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8929116" y="4754880"/>
            <a:ext cx="640080" cy="640080"/>
          </a:xfrm>
          <a:prstGeom prst="rect">
            <a:avLst/>
          </a:prstGeom>
          <a:solidFill>
            <a:srgbClr val="F3E4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929116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9569196" y="4754880"/>
            <a:ext cx="640080" cy="640080"/>
          </a:xfrm>
          <a:prstGeom prst="rect">
            <a:avLst/>
          </a:prstGeom>
          <a:solidFill>
            <a:srgbClr val="E4DE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569196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0209276" y="4754880"/>
            <a:ext cx="640080" cy="640080"/>
          </a:xfrm>
          <a:prstGeom prst="rect">
            <a:avLst/>
          </a:prstGeom>
          <a:solidFill>
            <a:srgbClr val="00A8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0209276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648956" y="5394960"/>
            <a:ext cx="640080" cy="640080"/>
          </a:xfrm>
          <a:prstGeom prst="rect">
            <a:avLst/>
          </a:prstGeom>
          <a:solidFill>
            <a:srgbClr val="00A8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648956" y="5394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8289036" y="5394960"/>
            <a:ext cx="640080" cy="640080"/>
          </a:xfrm>
          <a:prstGeom prst="rect">
            <a:avLst/>
          </a:prstGeom>
          <a:solidFill>
            <a:srgbClr val="00A8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289036" y="5394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8929116" y="5394960"/>
            <a:ext cx="640080" cy="640080"/>
          </a:xfrm>
          <a:prstGeom prst="rect">
            <a:avLst/>
          </a:prstGeom>
          <a:solidFill>
            <a:srgbClr val="F3E4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929116" y="5394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9569196" y="5394960"/>
            <a:ext cx="640080" cy="640080"/>
          </a:xfrm>
          <a:prstGeom prst="rect">
            <a:avLst/>
          </a:prstGeom>
          <a:solidFill>
            <a:srgbClr val="00A8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9569196" y="5394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10209276" y="5394960"/>
            <a:ext cx="640080" cy="640080"/>
          </a:xfrm>
          <a:prstGeom prst="rect">
            <a:avLst/>
          </a:prstGeom>
          <a:solidFill>
            <a:srgbClr val="E4DE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0209276" y="5394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648956" y="6199632"/>
            <a:ext cx="201168" cy="201168"/>
          </a:xfrm>
          <a:prstGeom prst="rect">
            <a:avLst/>
          </a:prstGeom>
          <a:solidFill>
            <a:srgbClr val="00A85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904988" y="61630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 (VM)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9066276" y="6199632"/>
            <a:ext cx="201168" cy="201168"/>
          </a:xfrm>
          <a:prstGeom prst="rect">
            <a:avLst/>
          </a:prstGeom>
          <a:solidFill>
            <a:srgbClr val="F3E4E4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9322308" y="61630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viable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10483596" y="6199632"/>
            <a:ext cx="201168" cy="201168"/>
          </a:xfrm>
          <a:prstGeom prst="rect">
            <a:avLst/>
          </a:prstGeom>
          <a:solidFill>
            <a:srgbClr val="E4DEE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10739628" y="61630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CRUZAMIENTOS · PUNTOS DE CHEQUEO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datos y controles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avances · Módulos de Mejoramiento · SIVAR —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valor se toma de la mejor fuente disponible, y el motor incorpora varias salvaguardas para no producir sugerencias sobre datos incompletos.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DE FUENTES (por rasgo)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3529584" cy="1097280"/>
          </a:xfrm>
          <a:prstGeom prst="roundRect">
            <a:avLst>
              <a:gd name="adj" fmla="val 750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395728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4871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Germoplasma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8346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Caracterización BG (primera opción)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005072" y="26517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15968" y="2286000"/>
            <a:ext cx="3529584" cy="1097280"/>
          </a:xfrm>
          <a:prstGeom prst="roundRect">
            <a:avLst>
              <a:gd name="adj" fmla="val 750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44568" y="2395728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367528" y="24871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Regional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367528" y="28346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datos_campo_crudos · estado 5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26517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174736" y="2286000"/>
            <a:ext cx="3529584" cy="1097280"/>
          </a:xfrm>
          <a:prstGeom prst="roundRect">
            <a:avLst>
              <a:gd name="adj" fmla="val 750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03336" y="2395728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9226296" y="24871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III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226296" y="28346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datos_campo_crudos · estado 3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657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SALVAGUARDAS DEL MÓDULO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5486400" cy="1051560"/>
          </a:xfrm>
          <a:prstGeom prst="roundRect">
            <a:avLst>
              <a:gd name="adj" fmla="val 7826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" y="4293108"/>
            <a:ext cx="512064" cy="51206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389888" y="416966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Exclusión de vacíos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389888" y="45079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rasgos sin dato no contaminan el puntaje.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245352" y="4023360"/>
            <a:ext cx="5486400" cy="1051560"/>
          </a:xfrm>
          <a:prstGeom prst="roundRect">
            <a:avLst>
              <a:gd name="adj" fmla="val 7826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92240" y="4293108"/>
            <a:ext cx="512064" cy="51206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178040" y="416966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÷ 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5079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suma de pesos es 0, se fija en 1 para no romper el cálculo.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457200" y="5276088"/>
            <a:ext cx="5486400" cy="1051560"/>
          </a:xfrm>
          <a:prstGeom prst="roundRect">
            <a:avLst>
              <a:gd name="adj" fmla="val 7826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088" y="5545836"/>
            <a:ext cx="512064" cy="51206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389888" y="542239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temporal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389888" y="57607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flores de la ventana y con estado disponible.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6245352" y="5276088"/>
            <a:ext cx="5486400" cy="1051560"/>
          </a:xfrm>
          <a:prstGeom prst="roundRect">
            <a:avLst>
              <a:gd name="adj" fmla="val 7826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5545836"/>
            <a:ext cx="512064" cy="51206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178040" y="542239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 común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57607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flores enviadas a bolsa común se excluyen del par dirigido.</a:t>
            </a:r>
            <a:endParaRPr lang="en-US" sz="9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602691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Siembra Campo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262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Viveros, parcelas y trazabilidad del material en campo</a:t>
            </a:r>
            <a:endParaRPr lang="en-US" sz="1400" dirty="0"/>
          </a:p>
        </p:txBody>
      </p:sp>
      <p:pic>
        <p:nvPicPr>
          <p:cNvPr id="6" name="Image 0" descr="assets/disc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46888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SIEMBRA CAMPO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e identificador único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avances · Módulos de Mejoramiento · SIVAR —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el material sembrado en una jerarquía geográfica y le asigna a cada vivero un identificador único y sistemático.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5486400" cy="566928"/>
          </a:xfrm>
          <a:prstGeom prst="roundRect">
            <a:avLst>
              <a:gd name="adj" fmla="val 14516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2011680"/>
            <a:ext cx="384048" cy="384048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80160" y="19202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5486400" cy="566928"/>
          </a:xfrm>
          <a:prstGeom prst="roundRect">
            <a:avLst>
              <a:gd name="adj" fmla="val 14516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651760"/>
            <a:ext cx="384048" cy="384048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80160" y="25603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Hacienda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5486400" cy="566928"/>
          </a:xfrm>
          <a:prstGeom prst="roundRect">
            <a:avLst>
              <a:gd name="adj" fmla="val 14516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291840"/>
            <a:ext cx="384048" cy="384048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80160" y="32004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Suerte / Lote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5486400" cy="566928"/>
          </a:xfrm>
          <a:prstGeom prst="roundRect">
            <a:avLst>
              <a:gd name="adj" fmla="val 14516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931920"/>
            <a:ext cx="384048" cy="384048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80160" y="38404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Vivero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5486400" cy="566928"/>
          </a:xfrm>
          <a:prstGeom prst="roundRect">
            <a:avLst>
              <a:gd name="adj" fmla="val 14516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" y="4572000"/>
            <a:ext cx="384048" cy="384048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80160" y="448056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5120640"/>
            <a:ext cx="5486400" cy="566928"/>
          </a:xfrm>
          <a:prstGeom prst="roundRect">
            <a:avLst>
              <a:gd name="adj" fmla="val 14516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" y="5212080"/>
            <a:ext cx="384048" cy="384048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280160" y="51206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Variedad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5742432"/>
            <a:ext cx="5486400" cy="457200"/>
          </a:xfrm>
          <a:prstGeom prst="roundRect">
            <a:avLst>
              <a:gd name="adj" fmla="val 18000"/>
            </a:avLst>
          </a:prstGeom>
          <a:solidFill>
            <a:srgbClr val="241832"/>
          </a:solidFill>
          <a:ln w="12700">
            <a:solidFill>
              <a:srgbClr val="2418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57424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único:  </a:t>
            </a:r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{ingenio}{año}-{hacienda}-{suerte}-{consecutivo}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09360" y="1920240"/>
            <a:ext cx="5422392" cy="4279392"/>
          </a:xfrm>
          <a:prstGeom prst="roundRect">
            <a:avLst>
              <a:gd name="adj" fmla="val 1923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09360" y="2084832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VIVERO (ilustrativo)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648956" y="251460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60269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648956" y="2514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Vivero 0025-1734-56-1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20556" y="3063240"/>
            <a:ext cx="-1179576" cy="365760"/>
          </a:xfrm>
          <a:prstGeom prst="line">
            <a:avLst/>
          </a:prstGeom>
          <a:noFill/>
          <a:ln w="19050">
            <a:solidFill>
              <a:srgbClr val="E4DE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75120" y="3429000"/>
            <a:ext cx="2331720" cy="475488"/>
          </a:xfrm>
          <a:prstGeom prst="roundRect">
            <a:avLst>
              <a:gd name="adj" fmla="val 11538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75120" y="34290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 01 · V1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020556" y="3063240"/>
            <a:ext cx="1179576" cy="365760"/>
          </a:xfrm>
          <a:prstGeom prst="line">
            <a:avLst/>
          </a:prstGeom>
          <a:noFill/>
          <a:ln w="19050">
            <a:solidFill>
              <a:srgbClr val="E4DE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34272" y="3429000"/>
            <a:ext cx="2331720" cy="475488"/>
          </a:xfrm>
          <a:prstGeom prst="roundRect">
            <a:avLst>
              <a:gd name="adj" fmla="val 11538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034272" y="34290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 02 · V2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840980" y="3904488"/>
            <a:ext cx="0" cy="347472"/>
          </a:xfrm>
          <a:prstGeom prst="line">
            <a:avLst/>
          </a:prstGeom>
          <a:noFill/>
          <a:ln w="19050">
            <a:solidFill>
              <a:srgbClr val="E4DE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75120" y="4251960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EFE9F7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75120" y="4251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1 (soca) · histórico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537960" y="5870448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Genealogía recursiva: origen → parcelas → cortes/cosechas.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SIEMBRA CAMPO · PUNTOS DE CHEQUEO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y controles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avances · Módulos de Mejoramiento · SIVAR —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modela la genealogía del material y protege la integridad de los datos con estados obligatorios y operaciones atómicas.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1274552" cy="1371600"/>
          </a:xfrm>
          <a:prstGeom prst="roundRect">
            <a:avLst>
              <a:gd name="adj" fmla="val 600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8660" y="2308860"/>
            <a:ext cx="685800" cy="68580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genealógico recursivo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54203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vivero puede tener un vivero de origen y descendientes; los cortes/cosechas se registran como nodos históricos. Así se reconstruye la trazabilidad completa (incluida la soca), con protección contra ciclos.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3895344"/>
            <a:ext cx="548640" cy="54864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444752" y="368503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obligatorios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444752" y="40233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vivero fluye por estados (p. ej. Cosechado); marcarComocosechado y registrarCosecha llevan el histórico.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45352" y="352044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1384" y="3895344"/>
            <a:ext cx="548640" cy="54864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32904" y="368503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atómicas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232904" y="40233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actualizar, trasladar y cosechar corren en DB::transaction: todo o nada.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047488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5422392"/>
            <a:ext cx="548640" cy="54864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444752" y="52120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Unicidad al trasladar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444752" y="555040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traslado de lote maneja el renombrado temporal para no violar restricciones de unicidad.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45352" y="5047488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01384" y="5422392"/>
            <a:ext cx="548640" cy="54864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232904" y="52120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Catálogos estandarizados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232904" y="555040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Ingenios, haciendas y suertes vienen de catálogos cacheados: sin errores de digitación.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602691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Data Lake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262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 datos como fuente única de verdad y su calidad</a:t>
            </a:r>
            <a:endParaRPr lang="en-US" sz="1400" dirty="0"/>
          </a:p>
        </p:txBody>
      </p:sp>
      <p:pic>
        <p:nvPicPr>
          <p:cNvPr id="6" name="Image 0" descr="assets/disc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46888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 datos como Data Lake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avances · Módulos de Mejoramiento · SIVAR —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base (PostgreSQL, conexión sivar) unifica capas que antes vivían aisladas, más un puente al sistema corporativo SIPRO. Eso permite cruzar variables antes desconectadas.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76856"/>
            <a:ext cx="548640" cy="54864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17320" y="213055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459736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floracion · viveros · vivero_parcelas · lotes · cosechas · actividads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45352" y="196596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73952" y="2276856"/>
            <a:ext cx="548640" cy="54864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05472" y="213055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Genética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205472" y="2459736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caracterizacion_banco_germoplasma · maestro_V_VIC_BG · diagrama de padres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648456"/>
            <a:ext cx="548640" cy="54864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417320" y="350215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831336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caracterizacion_molecular_BG (distancias entre variedades)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45352" y="333756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3952" y="3648456"/>
            <a:ext cx="548640" cy="54864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05472" y="350215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decisión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3831336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caracteristicas_valor_merito · ponderados_valor_merito · caracteres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5020056"/>
            <a:ext cx="548640" cy="54864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417320" y="487375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corporativa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5202936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remote_pg_sipro (puente a SIPRO: proyectos y códigos)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45352" y="470916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73952" y="5020056"/>
            <a:ext cx="548640" cy="54864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205472" y="487375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Bioinformática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205472" y="5202936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nativo · BioJava · JBrowse · Sequence Server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Linaje: cómo se encadenan los datos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avances · Módulos de Mejoramiento · SIVAR —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del Data Lake es la conexión. Un mismo material se sigue desde la siembra hasta la sugerencia de cruce, y su desempeño real retroalimenta el modelo.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2537460"/>
            <a:ext cx="777240" cy="77724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429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Siembra Campo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767328"/>
            <a:ext cx="2386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viveros + vivero_parcelas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definen material y ubicación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040380" y="31546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46704" y="22860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61104" y="2537460"/>
            <a:ext cx="777240" cy="77724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38144" y="3429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Floración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767328"/>
            <a:ext cx="2386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floracion se valida contra la parcela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hereda proyecto/hacienda/suerte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929884" y="31546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36208" y="22860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50608" y="2537460"/>
            <a:ext cx="777240" cy="77724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27648" y="3429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cruces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45936" y="3767328"/>
            <a:ext cx="2386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floración + germoplasma +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+ pesos por ambiente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819388" y="31546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25712" y="22860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40112" y="2537460"/>
            <a:ext cx="777240" cy="77724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17152" y="3429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3767328"/>
            <a:ext cx="2386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datos_campo_crudos y VM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retroalimentan la selección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5029200"/>
            <a:ext cx="11274552" cy="960120"/>
          </a:xfrm>
          <a:prstGeom prst="roundRect">
            <a:avLst>
              <a:gd name="adj" fmla="val 8571"/>
            </a:avLst>
          </a:prstGeom>
          <a:solidFill>
            <a:srgbClr val="241832"/>
          </a:solidFill>
          <a:ln w="12700">
            <a:solidFill>
              <a:srgbClr val="24183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502920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Truth:  </a:t>
            </a:r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unir secuencias, fenotipo de campo y desempeño en una sola base, SIVAR puede relacionar el potencial genético de una variedad con su comportamiento real.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CALIDAD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chequeo end-to-end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avances · Módulos de Mejoramiento · SIVAR —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resumen de los controles que mantienen el Data Lake confiable, módulo por módulo.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743200" cy="475488"/>
          </a:xfrm>
          <a:prstGeom prst="rect">
            <a:avLst/>
          </a:prstGeom>
          <a:solidFill>
            <a:srgbClr val="602691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0" y="2103120"/>
            <a:ext cx="8531352" cy="475488"/>
          </a:xfrm>
          <a:prstGeom prst="rect">
            <a:avLst/>
          </a:prstGeom>
          <a:solidFill>
            <a:srgbClr val="60269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1031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103120"/>
            <a:ext cx="8348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/ punto de chequeo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2578608"/>
            <a:ext cx="85313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57860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Floración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2578608"/>
            <a:ext cx="8165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en 2 fases + 4 reglas (origen, parcela, variedad, proyecto)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54096"/>
            <a:ext cx="2743200" cy="475488"/>
          </a:xfrm>
          <a:prstGeom prst="rect">
            <a:avLst/>
          </a:prstGeom>
          <a:solidFill>
            <a:srgbClr val="F6F3FB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3054096"/>
            <a:ext cx="8531352" cy="475488"/>
          </a:xfrm>
          <a:prstGeom prst="rect">
            <a:avLst/>
          </a:prstGeom>
          <a:solidFill>
            <a:srgbClr val="F6F3FB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5409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Floración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054096"/>
            <a:ext cx="8165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automática de sexo, fecha y polen al insertar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29584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3529584"/>
            <a:ext cx="85313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5295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Cruzamientos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529584"/>
            <a:ext cx="8165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temporal, sexo, exclusión de vacíos y protección ÷0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05072"/>
            <a:ext cx="2743200" cy="475488"/>
          </a:xfrm>
          <a:prstGeom prst="rect">
            <a:avLst/>
          </a:prstGeom>
          <a:solidFill>
            <a:srgbClr val="F6F3FB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4005072"/>
            <a:ext cx="8531352" cy="475488"/>
          </a:xfrm>
          <a:prstGeom prst="rect">
            <a:avLst/>
          </a:prstGeom>
          <a:solidFill>
            <a:srgbClr val="F6F3FB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0050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Cruzamientos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4005072"/>
            <a:ext cx="8165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de fuentes BG → Prueba Regional → Estado III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480560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4480560"/>
            <a:ext cx="85313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44805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Siembra Campo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383280" y="4480560"/>
            <a:ext cx="8165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obligatorios y registro histórico de cosechas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956048"/>
            <a:ext cx="2743200" cy="475488"/>
          </a:xfrm>
          <a:prstGeom prst="rect">
            <a:avLst/>
          </a:prstGeom>
          <a:solidFill>
            <a:srgbClr val="F6F3FB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956048"/>
            <a:ext cx="8531352" cy="475488"/>
          </a:xfrm>
          <a:prstGeom prst="rect">
            <a:avLst/>
          </a:prstGeom>
          <a:solidFill>
            <a:srgbClr val="F6F3FB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49560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Siembra Campo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383280" y="4956048"/>
            <a:ext cx="8165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atómicas y unicidad al trasladar lotes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5431536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5431536"/>
            <a:ext cx="85313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4DEE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543153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2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383280" y="5431536"/>
            <a:ext cx="8165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Catálogos estandarizados y normalización de decimales (coma → punto)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AVANCES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 logrados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avances · Módulos de Mejoramiento · SIVAR —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de los tres módulos en la plataforma.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17420"/>
            <a:ext cx="548640" cy="54864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17320" y="2020824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Floración operativa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35000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 importación con mapeo de columnas y validación previa de 4 reglas.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45352" y="187452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73952" y="2217420"/>
            <a:ext cx="548640" cy="54864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05472" y="2020824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cruzamientos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205472" y="235000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Viabilidad, valor de mérito, matriz N×N, distancia genética y sugerencias por proyecto, en producción.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10128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653028"/>
            <a:ext cx="548640" cy="54864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417320" y="345643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Ponderación configurable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785616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y niveles por proyecto y ambiente, editables por el mejorador.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45352" y="3310128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3952" y="3653028"/>
            <a:ext cx="548640" cy="54864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05472" y="345643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Siembra Campo con genealogía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3785616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viveros, parcelas y cosechas con estados y trazabilidad.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745736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5088636"/>
            <a:ext cx="548640" cy="548640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417320" y="489204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unificada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522122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de campo, genética y molecular integradas + puente a SIPRO.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45352" y="4745736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73952" y="5088636"/>
            <a:ext cx="548640" cy="548640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205472" y="489204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Bioinformática integrada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205472" y="522122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BLAST, BioJava y visores genómicos dentro de la misma plataforma.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CIERRE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avances · Módulos de Mejoramiento · SIVAR — CENICAÑA ·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para consolidar la base y potenciar el valor del Data Lake.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486400" cy="1554480"/>
          </a:xfrm>
          <a:prstGeom prst="roundRect">
            <a:avLst>
              <a:gd name="adj" fmla="val 5294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2212848"/>
            <a:ext cx="603504" cy="60350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08760" y="22219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numéricos y trazas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715768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cálculos de un cruce de punta a punta para auditoría.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45352" y="1965960"/>
            <a:ext cx="5486400" cy="1554480"/>
          </a:xfrm>
          <a:prstGeom prst="roundRect">
            <a:avLst>
              <a:gd name="adj" fmla="val 5294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212848"/>
            <a:ext cx="603504" cy="60350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96912" y="22219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Tableros de calidad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296912" y="2715768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validación (tasa de rechazo, cobertura de datos) por campaña.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776472"/>
            <a:ext cx="5486400" cy="1554480"/>
          </a:xfrm>
          <a:prstGeom prst="roundRect">
            <a:avLst>
              <a:gd name="adj" fmla="val 5294"/>
            </a:avLst>
          </a:prstGeom>
          <a:solidFill>
            <a:srgbClr val="F6F3FB"/>
          </a:solidFill>
          <a:ln w="12700">
            <a:solidFill>
              <a:srgbClr val="E4DE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4023360"/>
            <a:ext cx="603504" cy="603504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40325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 sobre el Data Lake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526280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Explotar la unión genética × campo para predicción de desempeño.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45352" y="3776472"/>
            <a:ext cx="5486400" cy="1554480"/>
          </a:xfrm>
          <a:prstGeom prst="roundRect">
            <a:avLst>
              <a:gd name="adj" fmla="val 5294"/>
            </a:avLst>
          </a:prstGeom>
          <a:solidFill>
            <a:srgbClr val="E2F7EE"/>
          </a:solidFill>
          <a:ln w="12700">
            <a:solidFill>
              <a:srgbClr val="B7E4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023360"/>
            <a:ext cx="603504" cy="603504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96912" y="40325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de datos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296912" y="4526280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diccionarios, versiones y linaje para escalar el Data Lake.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2103120" cy="65810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6517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 y preguntas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5029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Jhon Henry Trujillo, Ph.D.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Mejoramiento Genético + Grupo de Biotecnología · CENICAÑA</a:t>
            </a:r>
            <a:endParaRPr lang="en-US" sz="1300" dirty="0"/>
          </a:p>
        </p:txBody>
      </p:sp>
      <p:pic>
        <p:nvPicPr>
          <p:cNvPr id="6" name="Image 1" descr="assets/disc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228600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CENICAÑA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de avances — Módulos SIVAR</dc:title>
  <dc:subject>PptxGenJS Presentation</dc:subject>
  <dc:creator>Jhon Henry Trujillo, Ph.D.</dc:creator>
  <cp:lastModifiedBy>Jhon Henry Trujillo, Ph.D.</cp:lastModifiedBy>
  <cp:revision>1</cp:revision>
  <dcterms:created xsi:type="dcterms:W3CDTF">2026-09-11T19:19:23Z</dcterms:created>
  <dcterms:modified xsi:type="dcterms:W3CDTF">2026-09-11T19:19:23Z</dcterms:modified>
</cp:coreProperties>
</file>