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CRUZAMIENTOS · MATEMÁTICA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cálculo en SIVAR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fórmulas del motor de decisión, del desempeño de una variedad a la viabilidad de un cruce.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3776" y="2020824"/>
            <a:ext cx="566928" cy="566928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93776" y="2020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7510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desempeño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3957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VD se define el nivel de la variedad (escala 1–9) o el rango de enfermedad.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49040" y="1847088"/>
            <a:ext cx="7982712" cy="1051560"/>
          </a:xfrm>
          <a:prstGeom prst="roundRect">
            <a:avLst>
              <a:gd name="adj" fmla="val 7826"/>
            </a:avLst>
          </a:prstGeom>
          <a:solidFill>
            <a:srgbClr val="241832"/>
          </a:solidFill>
          <a:ln w="12700">
            <a:solidFill>
              <a:srgbClr val="2418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06240" y="1847088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</a:t>
            </a:r>
            <a:pPr algn="l" indent="0" marL="0">
              <a:buNone/>
            </a:pPr>
            <a:r>
              <a:rPr lang="en-US" sz="1300" b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191566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variedad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100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263640" y="2372868"/>
            <a:ext cx="4297680" cy="0"/>
          </a:xfrm>
          <a:prstGeom prst="line">
            <a:avLst/>
          </a:prstGeom>
          <a:noFill/>
          <a:ln w="22225">
            <a:solidFill>
              <a:srgbClr val="00D57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242773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testigo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93776" y="3694176"/>
            <a:ext cx="566928" cy="566928"/>
          </a:xfrm>
          <a:prstGeom prst="ellipse">
            <a:avLst/>
          </a:prstGeom>
          <a:solidFill>
            <a:srgbClr val="60269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3776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64845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Valor de Mérito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número de características evaluadas (i = 1 … n).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3520440"/>
            <a:ext cx="7982712" cy="1051560"/>
          </a:xfrm>
          <a:prstGeom prst="roundRect">
            <a:avLst>
              <a:gd name="adj" fmla="val 7826"/>
            </a:avLst>
          </a:prstGeom>
          <a:solidFill>
            <a:srgbClr val="241832"/>
          </a:solidFill>
          <a:ln w="12700">
            <a:solidFill>
              <a:srgbClr val="2418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06240" y="352044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</a:t>
            </a:r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algn="l" indent="0" marL="0">
              <a:buNone/>
            </a:pPr>
            <a:r>
              <a:rPr lang="en-US" sz="2600" b="1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buNone/>
            </a:pPr>
            <a:r>
              <a:rPr lang="en-US" sz="1100" baseline="-40000" dirty="0">
                <a:solidFill>
                  <a:srgbClr val="D9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i=1..n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58902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</a:t>
            </a:r>
            <a:pPr algn="ctr" indent="0" marL="0">
              <a:buNone/>
            </a:pPr>
            <a:r>
              <a:rPr lang="en-US" sz="1300" b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Peso</a:t>
            </a:r>
            <a:pPr algn="ctr" indent="0" marL="0">
              <a:buNone/>
            </a:pPr>
            <a:r>
              <a:rPr lang="en-US" sz="1300" b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537960" y="4046220"/>
            <a:ext cx="4206240" cy="0"/>
          </a:xfrm>
          <a:prstGeom prst="line">
            <a:avLst/>
          </a:prstGeom>
          <a:noFill/>
          <a:ln w="22225">
            <a:solidFill>
              <a:srgbClr val="00D57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4101084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493776" y="5367528"/>
            <a:ext cx="566928" cy="566928"/>
          </a:xfrm>
          <a:prstGeom prst="ellipse">
            <a:avLst/>
          </a:prstGeom>
          <a:solidFill>
            <a:srgbClr val="00A85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3776" y="5367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53218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viabilidad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574243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evalúa por característica. Si una sola no cumple, se descarta el cruzamiento.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49040" y="5193792"/>
            <a:ext cx="7982712" cy="1051560"/>
          </a:xfrm>
          <a:prstGeom prst="roundRect">
            <a:avLst>
              <a:gd name="adj" fmla="val 7826"/>
            </a:avLst>
          </a:prstGeom>
          <a:solidFill>
            <a:srgbClr val="241832"/>
          </a:solidFill>
          <a:ln w="12700">
            <a:solidFill>
              <a:srgbClr val="2418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023360" y="5193792"/>
            <a:ext cx="7434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 =  ( Nivel</a:t>
            </a:r>
            <a:pPr algn="ctr" indent="0" marL="0">
              <a:buNone/>
            </a:pPr>
            <a:r>
              <a:rPr lang="en-US" sz="1300" b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padre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Nivel</a:t>
            </a:r>
            <a:pPr algn="ctr" indent="0" marL="0">
              <a:buNone/>
            </a:pPr>
            <a:r>
              <a:rPr lang="en-US" sz="1300" b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madre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   </a:t>
            </a:r>
            <a:pPr algn="ctr" indent="0" marL="0">
              <a:buNone/>
            </a:pPr>
            <a:r>
              <a:rPr lang="en-US" sz="2200" b="1" dirty="0">
                <a:solidFill>
                  <a:srgbClr val="00D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</a:t>
            </a:r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Nivel definido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55664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de las notas de cálculo · fórmulas evaluadas por característica.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SIVAR — Resumen del cálculo</dc:title>
  <dc:subject>PptxGenJS Presentation</dc:subject>
  <dc:creator>PptxGenJS</dc:creator>
  <cp:lastModifiedBy>PptxGenJS</cp:lastModifiedBy>
  <cp:revision>1</cp:revision>
  <dcterms:created xsi:type="dcterms:W3CDTF">2026-09-13T16:22:56Z</dcterms:created>
  <dcterms:modified xsi:type="dcterms:W3CDTF">2026-09-13T16:22:56Z</dcterms:modified>
</cp:coreProperties>
</file>