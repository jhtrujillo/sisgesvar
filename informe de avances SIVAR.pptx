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80" r:id="rId3"/>
    <p:sldId id="281" r:id="rId4"/>
    <p:sldId id="282" r:id="rId5"/>
    <p:sldId id="283" r:id="rId6"/>
    <p:sldId id="259" r:id="rId7"/>
    <p:sldId id="260" r:id="rId8"/>
    <p:sldId id="279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08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761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8d0d90d8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f8d0d90d8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8d0d90d8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f8d0d90d8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6514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8d0d90d8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f8d0d90d8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4686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8d0d90d8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f8d0d90d8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4344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243840" y="3418754"/>
            <a:ext cx="1137920" cy="19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1666240" y="3418754"/>
            <a:ext cx="1544320" cy="19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3495040" y="3418754"/>
            <a:ext cx="1137920" cy="19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080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2920"/>
            <a:ext cx="2194560" cy="6867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103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00D57C"/>
                </a:solidFill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PRESENTACIÓN DE AVANCES · SIVAR · 2026</a:t>
            </a:r>
            <a:endParaRPr lang="en-US" sz="1200" dirty="0">
              <a:latin typeface="ITC Avant Garde Pro Bk" panose="02000503030000020004" pitchFamily="2" charset="7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2487168"/>
            <a:ext cx="9326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ITC Avant Garde Pro Md" panose="02000607030000020004" pitchFamily="2" charset="77"/>
                <a:ea typeface="Calibri" pitchFamily="34" charset="-122"/>
                <a:cs typeface="Calibri" pitchFamily="34" charset="-120"/>
              </a:rPr>
              <a:t>SIVAR: Integración, Avances</a:t>
            </a:r>
            <a:endParaRPr lang="en-US" sz="4000" dirty="0">
              <a:latin typeface="ITC Avant Garde Pro Md" panose="02000607030000020004" pitchFamily="2" charset="77"/>
            </a:endParaRPr>
          </a:p>
          <a:p>
            <a:pPr marL="0" indent="0">
              <a:lnSpc>
                <a:spcPct val="98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ITC Avant Garde Pro Md" panose="02000607030000020004" pitchFamily="2" charset="77"/>
                <a:ea typeface="Calibri" pitchFamily="34" charset="-122"/>
                <a:cs typeface="Calibri" pitchFamily="34" charset="-120"/>
              </a:rPr>
              <a:t>y Refactorización</a:t>
            </a:r>
            <a:endParaRPr lang="en-US" sz="4000" dirty="0">
              <a:latin typeface="ITC Avant Garde Pro Md" panose="02000607030000020004" pitchFamily="2" charset="77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66928" y="4160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CBEF"/>
                </a:solidFill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Consolidación de los avances funcionales, técnicos y de gestión del Sistema de Mejoramiento — Programa de Variedades de CENICAÑA.</a:t>
            </a:r>
            <a:endParaRPr lang="en-US" sz="1400" dirty="0">
              <a:latin typeface="ITC Avant Garde Pro Bk" panose="02000503030000020004" pitchFamily="2" charset="77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66928" y="5623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Jhon Henry Trujillo, Ph.D. Sebastian Rodriguez</a:t>
            </a:r>
            <a:endParaRPr lang="en-US" sz="1300" dirty="0">
              <a:latin typeface="ITC Avant Garde Pro Bk" panose="02000503030000020004" pitchFamily="2" charset="7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D9CBEF"/>
                </a:solidFill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Grupo de Mejoramiento Genético + Grupo de Biotecnología · CENICAÑA</a:t>
            </a:r>
            <a:endParaRPr lang="en-US" sz="1300" dirty="0">
              <a:latin typeface="ITC Avant Garde Pro Bk" panose="02000503030000020004" pitchFamily="2" charset="77"/>
            </a:endParaRPr>
          </a:p>
        </p:txBody>
      </p:sp>
      <p:pic>
        <p:nvPicPr>
          <p:cNvPr id="7" name="Image 1" descr="assets/disc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2057400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" name="Google Shape;184;g3f8d0d90d80_0_9"/>
          <p:cNvGraphicFramePr/>
          <p:nvPr>
            <p:extLst>
              <p:ext uri="{D42A27DB-BD31-4B8C-83A1-F6EECF244321}">
                <p14:modId xmlns:p14="http://schemas.microsoft.com/office/powerpoint/2010/main" val="1153339800"/>
              </p:ext>
            </p:extLst>
          </p:nvPr>
        </p:nvGraphicFramePr>
        <p:xfrm>
          <a:off x="449129" y="1141564"/>
          <a:ext cx="11541761" cy="5484196"/>
        </p:xfrm>
        <a:graphic>
          <a:graphicData uri="http://schemas.openxmlformats.org/drawingml/2006/table">
            <a:tbl>
              <a:tblPr firstRow="1" firstCol="1">
                <a:tableStyleId>{912C8C85-51F0-491E-9774-3900AFEF0FD7}</a:tableStyleId>
              </a:tblPr>
              <a:tblGrid>
                <a:gridCol w="296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8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62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21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639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73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dirty="0">
                          <a:solidFill>
                            <a:schemeClr val="lt1"/>
                          </a:solidFill>
                          <a:latin typeface="ITC Avant Garde Pro Bk" panose="02000503030000020004" pitchFamily="2" charset="77"/>
                        </a:rPr>
                        <a:t>Hitos</a:t>
                      </a:r>
                      <a:endParaRPr sz="1400" b="0" i="0" dirty="0">
                        <a:solidFill>
                          <a:schemeClr val="lt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dirty="0">
                          <a:latin typeface="ITC Avant Garde Pro Bk" panose="02000503030000020004" pitchFamily="2" charset="77"/>
                        </a:rPr>
                        <a:t>Resultado esperado</a:t>
                      </a:r>
                      <a:endParaRPr sz="1400" b="0" i="0" dirty="0">
                        <a:solidFill>
                          <a:schemeClr val="lt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dirty="0">
                          <a:solidFill>
                            <a:schemeClr val="lt1"/>
                          </a:solidFill>
                          <a:latin typeface="ITC Avant Garde Pro Bk" panose="02000503030000020004" pitchFamily="2" charset="77"/>
                        </a:rPr>
                        <a:t>Jun</a:t>
                      </a:r>
                      <a:endParaRPr sz="1400" b="0" i="0" dirty="0">
                        <a:solidFill>
                          <a:schemeClr val="lt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dirty="0">
                          <a:solidFill>
                            <a:schemeClr val="lt1"/>
                          </a:solidFill>
                          <a:latin typeface="ITC Avant Garde Pro Bk" panose="02000503030000020004" pitchFamily="2" charset="77"/>
                        </a:rPr>
                        <a:t>Jul</a:t>
                      </a:r>
                      <a:endParaRPr sz="1400" b="0" i="0" dirty="0">
                        <a:solidFill>
                          <a:schemeClr val="lt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dirty="0" err="1">
                          <a:solidFill>
                            <a:schemeClr val="lt1"/>
                          </a:solidFill>
                          <a:latin typeface="ITC Avant Garde Pro Bk" panose="02000503030000020004" pitchFamily="2" charset="77"/>
                        </a:rPr>
                        <a:t>Ago</a:t>
                      </a:r>
                      <a:endParaRPr sz="1400" b="0" i="0" dirty="0">
                        <a:solidFill>
                          <a:schemeClr val="lt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dirty="0" err="1">
                          <a:solidFill>
                            <a:schemeClr val="lt1"/>
                          </a:solidFill>
                          <a:latin typeface="ITC Avant Garde Pro Bk" panose="02000503030000020004" pitchFamily="2" charset="77"/>
                        </a:rPr>
                        <a:t>Sep</a:t>
                      </a:r>
                      <a:endParaRPr sz="1400" b="0" i="0" dirty="0">
                        <a:solidFill>
                          <a:schemeClr val="lt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dirty="0">
                          <a:solidFill>
                            <a:schemeClr val="lt1"/>
                          </a:solidFill>
                          <a:latin typeface="ITC Avant Garde Pro Bk" panose="02000503030000020004" pitchFamily="2" charset="77"/>
                        </a:rPr>
                        <a:t>Oct</a:t>
                      </a:r>
                      <a:endParaRPr sz="1400" b="0" i="0" dirty="0">
                        <a:solidFill>
                          <a:schemeClr val="lt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dirty="0">
                          <a:solidFill>
                            <a:schemeClr val="lt1"/>
                          </a:solidFill>
                          <a:latin typeface="ITC Avant Garde Pro Bk" panose="02000503030000020004" pitchFamily="2" charset="77"/>
                        </a:rPr>
                        <a:t>Nov – Dic</a:t>
                      </a:r>
                      <a:endParaRPr sz="1400" b="0" i="0" dirty="0">
                        <a:solidFill>
                          <a:schemeClr val="lt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dirty="0">
                          <a:solidFill>
                            <a:schemeClr val="lt1"/>
                          </a:solidFill>
                          <a:latin typeface="ITC Avant Garde Pro Bk" panose="02000503030000020004" pitchFamily="2" charset="77"/>
                        </a:rPr>
                        <a:t>Responsable</a:t>
                      </a:r>
                      <a:endParaRPr sz="1400" b="0" i="0" dirty="0">
                        <a:solidFill>
                          <a:schemeClr val="lt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7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Questrial"/>
                        <a:buNone/>
                      </a:pPr>
                      <a:r>
                        <a:rPr lang="es-ES" sz="1000" b="0" i="0" dirty="0">
                          <a:solidFill>
                            <a:schemeClr val="dk1"/>
                          </a:solidFill>
                          <a:latin typeface="ITC Avant Garde Pro Bk" panose="02000503030000020004" pitchFamily="2" charset="77"/>
                          <a:sym typeface="Questrial"/>
                        </a:rPr>
                        <a:t>Levantamiento y planeación del proyecto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0" indent="-355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Questrial"/>
                        <a:buChar char="●"/>
                      </a:pPr>
                      <a:r>
                        <a:rPr lang="es-ES" sz="1000" b="0" i="0" dirty="0">
                          <a:latin typeface="ITC Avant Garde Pro Bk" panose="02000503030000020004" pitchFamily="2" charset="77"/>
                          <a:sym typeface="Questrial"/>
                        </a:rPr>
                        <a:t>Historias de usuario de todos los módulos de SIVAR y cronograma de actividades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latin typeface="ITC Avant Garde Pro Bk" panose="02000503030000020004" pitchFamily="2" charset="77"/>
                          <a:sym typeface="Questrial"/>
                        </a:rPr>
                        <a:t>X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s-ES" sz="1100" b="0" i="0" u="none" strike="noStrike" cap="none">
                          <a:solidFill>
                            <a:srgbClr val="000000"/>
                          </a:solidFill>
                          <a:latin typeface="ITC Avant Garde Pro Bk" panose="02000503030000020004" pitchFamily="2" charset="77"/>
                          <a:sym typeface="Calibri"/>
                        </a:rPr>
                        <a:t>Jhon + Sebastián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972">
                <a:tc row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latin typeface="ITC Avant Garde Pro Bk" panose="02000503030000020004" pitchFamily="2" charset="77"/>
                          <a:sym typeface="Questrial"/>
                        </a:rPr>
                        <a:t>Módulos Floración y Programación de cruzamientos funcionales y aprobados por mejoradores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marL="457200" marR="0" lvl="0" indent="-355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Questrial"/>
                        <a:buChar char="●"/>
                      </a:pPr>
                      <a:r>
                        <a:rPr lang="es-ES" sz="1000" b="0" i="0" dirty="0">
                          <a:highlight>
                            <a:srgbClr val="FFFF00"/>
                          </a:highlight>
                          <a:latin typeface="ITC Avant Garde Pro Bk" panose="02000503030000020004" pitchFamily="2" charset="77"/>
                          <a:sym typeface="Questrial"/>
                        </a:rPr>
                        <a:t>Registros históricos de floración en base de datos estandarizados </a:t>
                      </a:r>
                      <a:endParaRPr sz="1000" b="0" i="0" dirty="0">
                        <a:highlight>
                          <a:srgbClr val="FFFF00"/>
                        </a:highlight>
                        <a:latin typeface="ITC Avant Garde Pro Bk" panose="02000503030000020004" pitchFamily="2" charset="77"/>
                        <a:sym typeface="Questrial"/>
                      </a:endParaRPr>
                    </a:p>
                    <a:p>
                      <a:pPr marL="457200" marR="0" lvl="0" indent="-355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Questrial"/>
                        <a:buChar char="●"/>
                      </a:pPr>
                      <a:r>
                        <a:rPr lang="es-ES" sz="1000" b="0" i="0" dirty="0">
                          <a:highlight>
                            <a:srgbClr val="FFFF00"/>
                          </a:highlight>
                          <a:latin typeface="ITC Avant Garde Pro Bk" panose="02000503030000020004" pitchFamily="2" charset="77"/>
                          <a:sym typeface="Questrial"/>
                        </a:rPr>
                        <a:t>Registro histórico de programación de cruzamientos en base de datos</a:t>
                      </a:r>
                      <a:endParaRPr sz="1000" b="0" i="0" dirty="0">
                        <a:highlight>
                          <a:srgbClr val="FFFF00"/>
                        </a:highlight>
                        <a:latin typeface="ITC Avant Garde Pro Bk" panose="02000503030000020004" pitchFamily="2" charset="77"/>
                        <a:sym typeface="Questrial"/>
                      </a:endParaRPr>
                    </a:p>
                    <a:p>
                      <a:pPr marL="457200" marR="0" lvl="0" indent="-355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Questrial"/>
                        <a:buChar char="●"/>
                      </a:pPr>
                      <a:r>
                        <a:rPr lang="es-ES" sz="1000" b="0" i="0" dirty="0">
                          <a:latin typeface="ITC Avant Garde Pro Bk" panose="02000503030000020004" pitchFamily="2" charset="77"/>
                          <a:sym typeface="Questrial"/>
                        </a:rPr>
                        <a:t>Módulo funcional de programación de cruzamientos con cálculos de desempeño, valores de mérito y de viabilidad. </a:t>
                      </a:r>
                      <a:endParaRPr sz="1000" b="0" i="0" dirty="0">
                        <a:latin typeface="ITC Avant Garde Pro Bk" panose="02000503030000020004" pitchFamily="2" charset="77"/>
                        <a:sym typeface="Questrial"/>
                      </a:endParaRPr>
                    </a:p>
                    <a:p>
                      <a:pPr marL="457200" marR="0" lvl="0" indent="-355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Questrial"/>
                        <a:buChar char="●"/>
                      </a:pPr>
                      <a:r>
                        <a:rPr lang="es-ES" sz="1000" b="0" i="0" dirty="0">
                          <a:latin typeface="ITC Avant Garde Pro Bk" panose="02000503030000020004" pitchFamily="2" charset="77"/>
                          <a:sym typeface="Questrial"/>
                        </a:rPr>
                        <a:t>Planificación y registro de nuevos cruzamientos y análisis de compatibilidad genotípica</a:t>
                      </a:r>
                      <a:endParaRPr sz="1000" b="0" i="0" dirty="0"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latin typeface="ITC Avant Garde Pro Bk" panose="02000503030000020004" pitchFamily="2" charset="77"/>
                          <a:sym typeface="Questrial"/>
                        </a:rPr>
                        <a:t>X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s-ES" sz="1100" b="0" i="0" u="none" strike="noStrike" cap="none">
                          <a:solidFill>
                            <a:srgbClr val="000000"/>
                          </a:solidFill>
                          <a:latin typeface="ITC Avant Garde Pro Bk" panose="02000503030000020004" pitchFamily="2" charset="77"/>
                          <a:sym typeface="Calibri"/>
                        </a:rPr>
                        <a:t>Jhon + Sebastián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972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solidFill>
                            <a:schemeClr val="dk1"/>
                          </a:solidFill>
                          <a:latin typeface="ITC Avant Garde Pro Bk" panose="02000503030000020004" pitchFamily="2" charset="77"/>
                          <a:ea typeface="Questrial"/>
                          <a:cs typeface="Questrial"/>
                          <a:sym typeface="Questrial"/>
                        </a:rPr>
                        <a:t>X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936591"/>
                  </a:ext>
                </a:extLst>
              </a:tr>
              <a:tr h="437972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solidFill>
                            <a:schemeClr val="dk1"/>
                          </a:solidFill>
                          <a:latin typeface="ITC Avant Garde Pro Bk" panose="02000503030000020004" pitchFamily="2" charset="77"/>
                          <a:ea typeface="Questrial"/>
                          <a:cs typeface="Questrial"/>
                          <a:sym typeface="Questrial"/>
                        </a:rPr>
                        <a:t>X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478312"/>
                  </a:ext>
                </a:extLst>
              </a:tr>
              <a:tr h="437972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solidFill>
                            <a:schemeClr val="dk1"/>
                          </a:solidFill>
                          <a:latin typeface="ITC Avant Garde Pro Bk" panose="02000503030000020004" pitchFamily="2" charset="77"/>
                          <a:ea typeface="Questrial"/>
                          <a:cs typeface="Questrial"/>
                          <a:sym typeface="Questrial"/>
                        </a:rPr>
                        <a:t>X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616549"/>
                  </a:ext>
                </a:extLst>
              </a:tr>
              <a:tr h="369361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latin typeface="ITC Avant Garde Pro Bk" panose="02000503030000020004" pitchFamily="2" charset="77"/>
                          <a:sym typeface="Questrial"/>
                        </a:rPr>
                        <a:t>Módulos de siembra campo, variedades y experimentos funcionales y aprobados por mejoradores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marL="457200" marR="0" lvl="0" indent="-355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Questrial"/>
                        <a:buChar char="●"/>
                      </a:pPr>
                      <a:r>
                        <a:rPr lang="es-ES" sz="1000" b="0" i="0" dirty="0">
                          <a:latin typeface="ITC Avant Garde Pro Bk" panose="02000503030000020004" pitchFamily="2" charset="77"/>
                          <a:sym typeface="Questrial"/>
                        </a:rPr>
                        <a:t>Administración de viveros, siembras, parcelas, polen y floración en campo</a:t>
                      </a:r>
                      <a:endParaRPr sz="1000" b="0" i="0" dirty="0">
                        <a:latin typeface="ITC Avant Garde Pro Bk" panose="02000503030000020004" pitchFamily="2" charset="77"/>
                        <a:sym typeface="Questrial"/>
                      </a:endParaRPr>
                    </a:p>
                    <a:p>
                      <a:pPr marL="457200" marR="0" lvl="0" indent="-355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Questrial"/>
                        <a:buChar char="●"/>
                      </a:pPr>
                      <a:r>
                        <a:rPr lang="es-ES" sz="1000" b="0" i="0" dirty="0">
                          <a:highlight>
                            <a:srgbClr val="FFFF00"/>
                          </a:highlight>
                          <a:latin typeface="ITC Avant Garde Pro Bk" panose="02000503030000020004" pitchFamily="2" charset="77"/>
                          <a:sym typeface="Questrial"/>
                        </a:rPr>
                        <a:t>Gestión de catalogo varietal, genealogía e historial agronómico de selecciones</a:t>
                      </a:r>
                      <a:endParaRPr sz="1000" b="0" i="0" dirty="0">
                        <a:highlight>
                          <a:srgbClr val="FFFF00"/>
                        </a:highlight>
                        <a:latin typeface="ITC Avant Garde Pro Bk" panose="02000503030000020004" pitchFamily="2" charset="77"/>
                        <a:sym typeface="Questrial"/>
                      </a:endParaRPr>
                    </a:p>
                    <a:p>
                      <a:pPr marL="457200" marR="0" lvl="0" indent="-355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Questrial"/>
                        <a:buChar char="●"/>
                      </a:pPr>
                      <a:r>
                        <a:rPr lang="es-ES" sz="1000" b="0" i="0" dirty="0">
                          <a:highlight>
                            <a:srgbClr val="FFFF00"/>
                          </a:highlight>
                          <a:latin typeface="ITC Avant Garde Pro Bk" panose="02000503030000020004" pitchFamily="2" charset="77"/>
                          <a:sym typeface="Questrial"/>
                        </a:rPr>
                        <a:t>Diseño experimental, control de variables, parámetros ambientales e históricos de ensayos</a:t>
                      </a:r>
                      <a:endParaRPr sz="1000" b="0" i="0" dirty="0">
                        <a:highlight>
                          <a:srgbClr val="FFFF00"/>
                        </a:highlight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solidFill>
                            <a:schemeClr val="dk1"/>
                          </a:solidFill>
                          <a:latin typeface="ITC Avant Garde Pro Bk" panose="02000503030000020004" pitchFamily="2" charset="77"/>
                          <a:sym typeface="Questrial"/>
                        </a:rPr>
                        <a:t>X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solidFill>
                            <a:schemeClr val="dk1"/>
                          </a:solidFill>
                          <a:latin typeface="ITC Avant Garde Pro Bk" panose="02000503030000020004" pitchFamily="2" charset="77"/>
                          <a:sym typeface="Questrial"/>
                        </a:rPr>
                        <a:t>X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s-ES" sz="1100" b="0" i="0" u="none" strike="noStrike" cap="none">
                          <a:solidFill>
                            <a:srgbClr val="000000"/>
                          </a:solidFill>
                          <a:latin typeface="ITC Avant Garde Pro Bk" panose="02000503030000020004" pitchFamily="2" charset="77"/>
                          <a:sym typeface="Calibri"/>
                        </a:rPr>
                        <a:t>Jhon + Sebastián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362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solidFill>
                            <a:schemeClr val="dk1"/>
                          </a:solidFill>
                          <a:latin typeface="ITC Avant Garde Pro Bk" panose="02000503030000020004" pitchFamily="2" charset="77"/>
                          <a:ea typeface="Questrial"/>
                          <a:cs typeface="Questrial"/>
                          <a:sym typeface="Questrial"/>
                        </a:rPr>
                        <a:t>X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56349"/>
                  </a:ext>
                </a:extLst>
              </a:tr>
              <a:tr h="369361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solidFill>
                            <a:schemeClr val="dk1"/>
                          </a:solidFill>
                          <a:latin typeface="ITC Avant Garde Pro Bk" panose="02000503030000020004" pitchFamily="2" charset="77"/>
                          <a:ea typeface="Questrial"/>
                          <a:cs typeface="Questrial"/>
                          <a:sym typeface="Questrial"/>
                        </a:rPr>
                        <a:t>X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152859"/>
                  </a:ext>
                </a:extLst>
              </a:tr>
              <a:tr h="367098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latin typeface="ITC Avant Garde Pro Bk" panose="02000503030000020004" pitchFamily="2" charset="77"/>
                          <a:sym typeface="Questrial"/>
                        </a:rPr>
                        <a:t>Módulos de libros de campo y registros de ensayo funcionales y aprobados por mejoradores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457200" marR="0" lvl="0" indent="-355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Questrial"/>
                        <a:buChar char="●"/>
                      </a:pPr>
                      <a:r>
                        <a:rPr lang="es-ES" sz="1000" b="0" i="0" dirty="0">
                          <a:latin typeface="ITC Avant Garde Pro Bk" panose="02000503030000020004" pitchFamily="2" charset="77"/>
                          <a:sym typeface="Questrial"/>
                        </a:rPr>
                        <a:t>Anotaciones de campo, alineamientos y bitácora detallada por zona de muestreo</a:t>
                      </a:r>
                      <a:endParaRPr sz="1000" b="0" i="0" dirty="0">
                        <a:latin typeface="ITC Avant Garde Pro Bk" panose="02000503030000020004" pitchFamily="2" charset="77"/>
                        <a:sym typeface="Questrial"/>
                      </a:endParaRPr>
                    </a:p>
                    <a:p>
                      <a:pPr marL="457200" marR="0" lvl="0" indent="-355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Questrial"/>
                        <a:buChar char="●"/>
                      </a:pPr>
                      <a:r>
                        <a:rPr lang="es-ES" sz="1000" b="0" i="0" dirty="0">
                          <a:latin typeface="ITC Avant Garde Pro Bk" panose="02000503030000020004" pitchFamily="2" charset="77"/>
                          <a:sym typeface="Questrial"/>
                        </a:rPr>
                        <a:t>Base de datos histórica de ensayos, mapas e informes agronómicos </a:t>
                      </a:r>
                      <a:endParaRPr sz="1000" b="0" i="0" dirty="0"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solidFill>
                            <a:schemeClr val="dk1"/>
                          </a:solidFill>
                          <a:latin typeface="ITC Avant Garde Pro Bk" panose="02000503030000020004" pitchFamily="2" charset="77"/>
                          <a:sym typeface="Questrial"/>
                        </a:rPr>
                        <a:t>X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s-ES" sz="1100" b="0" i="0" u="none" strike="noStrike" cap="none">
                          <a:solidFill>
                            <a:srgbClr val="000000"/>
                          </a:solidFill>
                          <a:latin typeface="ITC Avant Garde Pro Bk" panose="02000503030000020004" pitchFamily="2" charset="77"/>
                          <a:sym typeface="Calibri"/>
                        </a:rPr>
                        <a:t>Jhon + Sebastián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098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solidFill>
                            <a:schemeClr val="dk1"/>
                          </a:solidFill>
                          <a:latin typeface="ITC Avant Garde Pro Bk" panose="02000503030000020004" pitchFamily="2" charset="77"/>
                          <a:ea typeface="Questrial"/>
                          <a:cs typeface="Questrial"/>
                          <a:sym typeface="Questrial"/>
                        </a:rPr>
                        <a:t>X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01110"/>
                  </a:ext>
                </a:extLst>
              </a:tr>
              <a:tr h="3283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latin typeface="ITC Avant Garde Pro Bk" panose="02000503030000020004" pitchFamily="2" charset="77"/>
                          <a:sym typeface="Questrial"/>
                        </a:rPr>
                        <a:t>bases de datos estandarizadas y actualizadas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0" indent="-355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Questrial"/>
                        <a:buChar char="●"/>
                      </a:pPr>
                      <a:r>
                        <a:rPr lang="es-ES" sz="1000" b="0" i="0">
                          <a:latin typeface="ITC Avant Garde Pro Bk" panose="02000503030000020004" pitchFamily="2" charset="77"/>
                          <a:sym typeface="Questrial"/>
                        </a:rPr>
                        <a:t>DataLake SIVAR</a:t>
                      </a:r>
                      <a:endParaRPr sz="1000" b="0" i="0"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>
                          <a:solidFill>
                            <a:schemeClr val="dk1"/>
                          </a:solidFill>
                          <a:latin typeface="ITC Avant Garde Pro Bk" panose="02000503030000020004" pitchFamily="2" charset="77"/>
                          <a:sym typeface="Questrial"/>
                        </a:rPr>
                        <a:t>X</a:t>
                      </a: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>
                          <a:solidFill>
                            <a:schemeClr val="dk1"/>
                          </a:solidFill>
                          <a:latin typeface="ITC Avant Garde Pro Bk" panose="02000503030000020004" pitchFamily="2" charset="77"/>
                          <a:sym typeface="Questrial"/>
                        </a:rPr>
                        <a:t>X</a:t>
                      </a: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s-ES" sz="1100" b="0" i="0" u="none" strike="noStrike" cap="none">
                          <a:solidFill>
                            <a:srgbClr val="000000"/>
                          </a:solidFill>
                          <a:latin typeface="ITC Avant Garde Pro Bk" panose="02000503030000020004" pitchFamily="2" charset="77"/>
                          <a:sym typeface="Calibri"/>
                        </a:rPr>
                        <a:t>Jhon + Sebastián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3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latin typeface="ITC Avant Garde Pro Bk" panose="02000503030000020004" pitchFamily="2" charset="77"/>
                          <a:sym typeface="Questrial"/>
                        </a:rPr>
                        <a:t>Entrega del proyecto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0" indent="-355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Questrial"/>
                        <a:buChar char="●"/>
                      </a:pPr>
                      <a:r>
                        <a:rPr lang="es-ES" sz="1000" b="0" i="0" dirty="0">
                          <a:latin typeface="ITC Avant Garde Pro Bk" panose="02000503030000020004" pitchFamily="2" charset="77"/>
                          <a:sym typeface="Questrial"/>
                        </a:rPr>
                        <a:t>Plataforma SIVAR 100% funcional</a:t>
                      </a:r>
                      <a:endParaRPr sz="1000" b="0" i="0" dirty="0">
                        <a:latin typeface="ITC Avant Garde Pro Bk" panose="02000503030000020004" pitchFamily="2" charset="77"/>
                        <a:sym typeface="Questrial"/>
                      </a:endParaRPr>
                    </a:p>
                    <a:p>
                      <a:pPr marL="457200" marR="0" lvl="0" indent="-355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Questrial"/>
                        <a:buChar char="●"/>
                      </a:pPr>
                      <a:r>
                        <a:rPr lang="es-ES" sz="1000" b="0" i="0" dirty="0">
                          <a:latin typeface="ITC Avant Garde Pro Bk" panose="02000503030000020004" pitchFamily="2" charset="77"/>
                          <a:sym typeface="Questrial"/>
                        </a:rPr>
                        <a:t>Informe de entrega</a:t>
                      </a:r>
                      <a:endParaRPr sz="1000" b="0" i="0" dirty="0"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solidFill>
                            <a:schemeClr val="dk1"/>
                          </a:solidFill>
                          <a:latin typeface="ITC Avant Garde Pro Bk" panose="02000503030000020004" pitchFamily="2" charset="77"/>
                          <a:ea typeface="Questrial"/>
                          <a:cs typeface="Questrial"/>
                          <a:sym typeface="Questrial"/>
                        </a:rPr>
                        <a:t>X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0" i="0" dirty="0">
                          <a:solidFill>
                            <a:schemeClr val="dk1"/>
                          </a:solidFill>
                          <a:latin typeface="ITC Avant Garde Pro Bk" panose="02000503030000020004" pitchFamily="2" charset="77"/>
                          <a:sym typeface="Questrial"/>
                        </a:rPr>
                        <a:t>X</a:t>
                      </a: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s-ES" sz="1100" b="0" i="0" u="none" strike="noStrike" cap="none" dirty="0">
                          <a:solidFill>
                            <a:srgbClr val="000000"/>
                          </a:solidFill>
                          <a:latin typeface="ITC Avant Garde Pro Bk" panose="02000503030000020004" pitchFamily="2" charset="77"/>
                          <a:sym typeface="Calibri"/>
                        </a:rPr>
                        <a:t>Jhon + Sebastián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3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0" indent="-355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Questrial"/>
                        <a:buChar char="●"/>
                      </a:pPr>
                      <a:endParaRPr sz="1000" b="0" i="0" dirty="0"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dirty="0">
                        <a:solidFill>
                          <a:schemeClr val="dk1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ITC Avant Garde Pro Bk" panose="02000503030000020004" pitchFamily="2" charset="77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36573" marR="36573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5940033"/>
                  </a:ext>
                </a:extLst>
              </a:tr>
            </a:tbl>
          </a:graphicData>
        </a:graphic>
      </p:graphicFrame>
      <p:sp>
        <p:nvSpPr>
          <p:cNvPr id="185" name="Google Shape;185;g3f8d0d90d80_0_9"/>
          <p:cNvSpPr txBox="1"/>
          <p:nvPr/>
        </p:nvSpPr>
        <p:spPr>
          <a:xfrm>
            <a:off x="0" y="379536"/>
            <a:ext cx="12192000" cy="4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s-ES" sz="3147" dirty="0">
                <a:solidFill>
                  <a:srgbClr val="7030A0"/>
                </a:solidFill>
                <a:latin typeface="ITC Avant Garde Pro Md" panose="02000607030000020004" pitchFamily="2" charset="77"/>
                <a:ea typeface="Questrial"/>
                <a:cs typeface="Questrial"/>
                <a:sym typeface="Questrial"/>
              </a:rPr>
              <a:t>Cronograma de hitos</a:t>
            </a:r>
            <a:endParaRPr sz="3147" dirty="0">
              <a:solidFill>
                <a:srgbClr val="7030A0"/>
              </a:solidFill>
              <a:latin typeface="ITC Avant Garde Pro Md" panose="02000607030000020004" pitchFamily="2" charset="77"/>
              <a:ea typeface="Questrial"/>
              <a:cs typeface="Questrial"/>
              <a:sym typeface="Questrial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1457BF-B87A-6518-E0A3-A5993F6FF7E6}"/>
              </a:ext>
            </a:extLst>
          </p:cNvPr>
          <p:cNvGrpSpPr/>
          <p:nvPr/>
        </p:nvGrpSpPr>
        <p:grpSpPr>
          <a:xfrm>
            <a:off x="7203404" y="2031550"/>
            <a:ext cx="1137067" cy="255414"/>
            <a:chOff x="7199130" y="2117008"/>
            <a:chExt cx="1137067" cy="255414"/>
          </a:xfrm>
        </p:grpSpPr>
        <p:pic>
          <p:nvPicPr>
            <p:cNvPr id="195" name="Google Shape;195;g3f8d0d90d80_0_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80783" y="2117008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g3f8d0d90d80_0_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99130" y="2117008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g3f8d0d90d80_0_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39950" y="2117008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48103A5-5A1A-3DEC-3060-DD0544A44E65}"/>
              </a:ext>
            </a:extLst>
          </p:cNvPr>
          <p:cNvGrpSpPr/>
          <p:nvPr/>
        </p:nvGrpSpPr>
        <p:grpSpPr>
          <a:xfrm>
            <a:off x="7220495" y="1611382"/>
            <a:ext cx="1137067" cy="255414"/>
            <a:chOff x="7214797" y="1611382"/>
            <a:chExt cx="1137067" cy="255414"/>
          </a:xfrm>
        </p:grpSpPr>
        <p:pic>
          <p:nvPicPr>
            <p:cNvPr id="2" name="Google Shape;195;g3f8d0d90d80_0_9">
              <a:extLst>
                <a:ext uri="{FF2B5EF4-FFF2-40B4-BE49-F238E27FC236}">
                  <a16:creationId xmlns:a16="http://schemas.microsoft.com/office/drawing/2014/main" id="{A7E6D0B1-D236-7F2E-1407-3D993142FB73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96450" y="1611382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197;g3f8d0d90d80_0_9">
              <a:extLst>
                <a:ext uri="{FF2B5EF4-FFF2-40B4-BE49-F238E27FC236}">
                  <a16:creationId xmlns:a16="http://schemas.microsoft.com/office/drawing/2014/main" id="{6CD3264A-7A32-4535-97C7-AA66F93B608A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14797" y="1611382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200;g3f8d0d90d80_0_9">
              <a:extLst>
                <a:ext uri="{FF2B5EF4-FFF2-40B4-BE49-F238E27FC236}">
                  <a16:creationId xmlns:a16="http://schemas.microsoft.com/office/drawing/2014/main" id="{F63A5600-9ABE-2464-BF2E-92CAA8D06BCD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55617" y="1611382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BDFE61-4B87-5FAC-EEA9-EE365DE15847}"/>
              </a:ext>
            </a:extLst>
          </p:cNvPr>
          <p:cNvGrpSpPr/>
          <p:nvPr/>
        </p:nvGrpSpPr>
        <p:grpSpPr>
          <a:xfrm>
            <a:off x="7220495" y="2448870"/>
            <a:ext cx="1137067" cy="255414"/>
            <a:chOff x="7206251" y="2448870"/>
            <a:chExt cx="1137067" cy="255414"/>
          </a:xfrm>
        </p:grpSpPr>
        <p:pic>
          <p:nvPicPr>
            <p:cNvPr id="5" name="Google Shape;195;g3f8d0d90d80_0_9">
              <a:extLst>
                <a:ext uri="{FF2B5EF4-FFF2-40B4-BE49-F238E27FC236}">
                  <a16:creationId xmlns:a16="http://schemas.microsoft.com/office/drawing/2014/main" id="{D6022A3A-0766-E492-110E-078E39B66ED8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87904" y="2448870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97;g3f8d0d90d80_0_9">
              <a:extLst>
                <a:ext uri="{FF2B5EF4-FFF2-40B4-BE49-F238E27FC236}">
                  <a16:creationId xmlns:a16="http://schemas.microsoft.com/office/drawing/2014/main" id="{A2C87039-228E-40E5-E4D0-6D8CCB8B91CA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06251" y="2448870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200;g3f8d0d90d80_0_9">
              <a:extLst>
                <a:ext uri="{FF2B5EF4-FFF2-40B4-BE49-F238E27FC236}">
                  <a16:creationId xmlns:a16="http://schemas.microsoft.com/office/drawing/2014/main" id="{E985D6DD-D75E-0BE8-4E65-30974641738C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47071" y="2448870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B99BA7C-C7F8-A336-7A1A-9B9CC1C996FF}"/>
              </a:ext>
            </a:extLst>
          </p:cNvPr>
          <p:cNvGrpSpPr/>
          <p:nvPr/>
        </p:nvGrpSpPr>
        <p:grpSpPr>
          <a:xfrm>
            <a:off x="7220495" y="2823461"/>
            <a:ext cx="1137067" cy="255414"/>
            <a:chOff x="7213372" y="2823461"/>
            <a:chExt cx="1137067" cy="255414"/>
          </a:xfrm>
        </p:grpSpPr>
        <p:pic>
          <p:nvPicPr>
            <p:cNvPr id="8" name="Google Shape;195;g3f8d0d90d80_0_9">
              <a:extLst>
                <a:ext uri="{FF2B5EF4-FFF2-40B4-BE49-F238E27FC236}">
                  <a16:creationId xmlns:a16="http://schemas.microsoft.com/office/drawing/2014/main" id="{3704E2BF-1488-71CB-FA86-134A7FACF769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95025" y="2823461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197;g3f8d0d90d80_0_9">
              <a:extLst>
                <a:ext uri="{FF2B5EF4-FFF2-40B4-BE49-F238E27FC236}">
                  <a16:creationId xmlns:a16="http://schemas.microsoft.com/office/drawing/2014/main" id="{1580CCD1-01EF-E571-2EB2-EC1375351AC4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13372" y="2823461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200;g3f8d0d90d80_0_9">
              <a:extLst>
                <a:ext uri="{FF2B5EF4-FFF2-40B4-BE49-F238E27FC236}">
                  <a16:creationId xmlns:a16="http://schemas.microsoft.com/office/drawing/2014/main" id="{6B8F9797-AA40-A5F7-5B5D-9716144C52BB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54192" y="2823461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4D8467-C89E-8289-6923-6302A1E9181E}"/>
              </a:ext>
            </a:extLst>
          </p:cNvPr>
          <p:cNvGrpSpPr/>
          <p:nvPr/>
        </p:nvGrpSpPr>
        <p:grpSpPr>
          <a:xfrm>
            <a:off x="7220495" y="3343330"/>
            <a:ext cx="1137067" cy="255414"/>
            <a:chOff x="7177765" y="3343330"/>
            <a:chExt cx="1137067" cy="255414"/>
          </a:xfrm>
        </p:grpSpPr>
        <p:pic>
          <p:nvPicPr>
            <p:cNvPr id="11" name="Google Shape;195;g3f8d0d90d80_0_9">
              <a:extLst>
                <a:ext uri="{FF2B5EF4-FFF2-40B4-BE49-F238E27FC236}">
                  <a16:creationId xmlns:a16="http://schemas.microsoft.com/office/drawing/2014/main" id="{95B16867-7855-4569-1CA0-27455BBB85F3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59418" y="3343330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97;g3f8d0d90d80_0_9">
              <a:extLst>
                <a:ext uri="{FF2B5EF4-FFF2-40B4-BE49-F238E27FC236}">
                  <a16:creationId xmlns:a16="http://schemas.microsoft.com/office/drawing/2014/main" id="{86FDA4A3-9D5B-FF95-95A1-EB4C6AB6C9B9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77765" y="3343330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200;g3f8d0d90d80_0_9">
              <a:extLst>
                <a:ext uri="{FF2B5EF4-FFF2-40B4-BE49-F238E27FC236}">
                  <a16:creationId xmlns:a16="http://schemas.microsoft.com/office/drawing/2014/main" id="{5A007C62-70CA-5AAB-1701-88DD51F0861C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18585" y="3343330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EB94FAD-BC5E-6BC0-2F65-5D5E850A8817}"/>
              </a:ext>
            </a:extLst>
          </p:cNvPr>
          <p:cNvGrpSpPr/>
          <p:nvPr/>
        </p:nvGrpSpPr>
        <p:grpSpPr>
          <a:xfrm>
            <a:off x="7694073" y="3769196"/>
            <a:ext cx="696247" cy="255414"/>
            <a:chOff x="7618585" y="3343330"/>
            <a:chExt cx="696247" cy="255414"/>
          </a:xfrm>
        </p:grpSpPr>
        <p:pic>
          <p:nvPicPr>
            <p:cNvPr id="20" name="Google Shape;195;g3f8d0d90d80_0_9">
              <a:extLst>
                <a:ext uri="{FF2B5EF4-FFF2-40B4-BE49-F238E27FC236}">
                  <a16:creationId xmlns:a16="http://schemas.microsoft.com/office/drawing/2014/main" id="{72ED96E6-8E0E-B5D0-A39D-58AE58F3886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59418" y="3343330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00;g3f8d0d90d80_0_9">
              <a:extLst>
                <a:ext uri="{FF2B5EF4-FFF2-40B4-BE49-F238E27FC236}">
                  <a16:creationId xmlns:a16="http://schemas.microsoft.com/office/drawing/2014/main" id="{C8CE9B77-0D4E-B581-17E2-69ECABB461D7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18585" y="3343330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C3F7EC7-5656-1663-5F8E-35803CC883B2}"/>
              </a:ext>
            </a:extLst>
          </p:cNvPr>
          <p:cNvGrpSpPr/>
          <p:nvPr/>
        </p:nvGrpSpPr>
        <p:grpSpPr>
          <a:xfrm>
            <a:off x="7701195" y="4152332"/>
            <a:ext cx="696247" cy="255414"/>
            <a:chOff x="7618585" y="3343330"/>
            <a:chExt cx="696247" cy="255414"/>
          </a:xfrm>
        </p:grpSpPr>
        <p:pic>
          <p:nvPicPr>
            <p:cNvPr id="24" name="Google Shape;195;g3f8d0d90d80_0_9">
              <a:extLst>
                <a:ext uri="{FF2B5EF4-FFF2-40B4-BE49-F238E27FC236}">
                  <a16:creationId xmlns:a16="http://schemas.microsoft.com/office/drawing/2014/main" id="{6E24F306-7DC9-42DE-A41E-67B596054EEE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59418" y="3343330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00;g3f8d0d90d80_0_9">
              <a:extLst>
                <a:ext uri="{FF2B5EF4-FFF2-40B4-BE49-F238E27FC236}">
                  <a16:creationId xmlns:a16="http://schemas.microsoft.com/office/drawing/2014/main" id="{8924B8EB-9F80-9DF4-80D5-52DFD520F095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18585" y="3343330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44C73D-E19C-E64B-A927-523924A8FBD8}"/>
              </a:ext>
            </a:extLst>
          </p:cNvPr>
          <p:cNvGrpSpPr/>
          <p:nvPr/>
        </p:nvGrpSpPr>
        <p:grpSpPr>
          <a:xfrm>
            <a:off x="7682679" y="4544014"/>
            <a:ext cx="696247" cy="255414"/>
            <a:chOff x="7618585" y="3343330"/>
            <a:chExt cx="696247" cy="255414"/>
          </a:xfrm>
        </p:grpSpPr>
        <p:pic>
          <p:nvPicPr>
            <p:cNvPr id="27" name="Google Shape;195;g3f8d0d90d80_0_9">
              <a:extLst>
                <a:ext uri="{FF2B5EF4-FFF2-40B4-BE49-F238E27FC236}">
                  <a16:creationId xmlns:a16="http://schemas.microsoft.com/office/drawing/2014/main" id="{7B05028A-75BD-1054-00B7-89EA790FB29B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59418" y="3343330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00;g3f8d0d90d80_0_9">
              <a:extLst>
                <a:ext uri="{FF2B5EF4-FFF2-40B4-BE49-F238E27FC236}">
                  <a16:creationId xmlns:a16="http://schemas.microsoft.com/office/drawing/2014/main" id="{CF289753-6049-29C6-FAA2-001D58D633A2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18585" y="3343330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53673A0-E797-2841-B5C2-B142F37E23DD}"/>
              </a:ext>
            </a:extLst>
          </p:cNvPr>
          <p:cNvGrpSpPr/>
          <p:nvPr/>
        </p:nvGrpSpPr>
        <p:grpSpPr>
          <a:xfrm>
            <a:off x="7664163" y="4892967"/>
            <a:ext cx="1275936" cy="262536"/>
            <a:chOff x="7664163" y="4892967"/>
            <a:chExt cx="1275936" cy="262536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70515FA-103D-9D1E-616B-590ABC717B5C}"/>
                </a:ext>
              </a:extLst>
            </p:cNvPr>
            <p:cNvGrpSpPr/>
            <p:nvPr/>
          </p:nvGrpSpPr>
          <p:grpSpPr>
            <a:xfrm>
              <a:off x="7664163" y="4892967"/>
              <a:ext cx="696247" cy="255414"/>
              <a:chOff x="7618585" y="3343330"/>
              <a:chExt cx="696247" cy="255414"/>
            </a:xfrm>
          </p:grpSpPr>
          <p:pic>
            <p:nvPicPr>
              <p:cNvPr id="30" name="Google Shape;195;g3f8d0d90d80_0_9">
                <a:extLst>
                  <a:ext uri="{FF2B5EF4-FFF2-40B4-BE49-F238E27FC236}">
                    <a16:creationId xmlns:a16="http://schemas.microsoft.com/office/drawing/2014/main" id="{5A08E884-DBDA-31ED-8ACC-E1AC47F122D4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059418" y="3343330"/>
                <a:ext cx="255414" cy="25541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" name="Google Shape;200;g3f8d0d90d80_0_9">
                <a:extLst>
                  <a:ext uri="{FF2B5EF4-FFF2-40B4-BE49-F238E27FC236}">
                    <a16:creationId xmlns:a16="http://schemas.microsoft.com/office/drawing/2014/main" id="{380DB2D4-925C-CA53-AC98-9B7BC58FC85E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618585" y="3343330"/>
                <a:ext cx="255414" cy="2554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2" name="Google Shape;195;g3f8d0d90d80_0_9">
              <a:extLst>
                <a:ext uri="{FF2B5EF4-FFF2-40B4-BE49-F238E27FC236}">
                  <a16:creationId xmlns:a16="http://schemas.microsoft.com/office/drawing/2014/main" id="{299F6FE7-F76C-684E-5D31-22CE7E5B05F5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84685" y="4900089"/>
              <a:ext cx="255414" cy="25541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5" name="Google Shape;195;g3f8d0d90d80_0_9">
            <a:extLst>
              <a:ext uri="{FF2B5EF4-FFF2-40B4-BE49-F238E27FC236}">
                <a16:creationId xmlns:a16="http://schemas.microsoft.com/office/drawing/2014/main" id="{AC2E7ACB-D814-F2A6-0886-04E34AE4250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6330" y="5607965"/>
            <a:ext cx="255414" cy="25541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3839094-05EE-0BE4-E539-AF349B6327CB}"/>
              </a:ext>
            </a:extLst>
          </p:cNvPr>
          <p:cNvSpPr txBox="1"/>
          <p:nvPr/>
        </p:nvSpPr>
        <p:spPr>
          <a:xfrm>
            <a:off x="5007835" y="6349527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ITC Avant Garde Pro Md" panose="02000607030000020004" pitchFamily="2" charset="77"/>
              </a:rPr>
              <a:t>Avance del 60%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8d0d90d80_0_9"/>
          <p:cNvSpPr txBox="1"/>
          <p:nvPr/>
        </p:nvSpPr>
        <p:spPr>
          <a:xfrm>
            <a:off x="0" y="379536"/>
            <a:ext cx="12192000" cy="4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s-ES" sz="3147" dirty="0">
                <a:solidFill>
                  <a:srgbClr val="7030A0"/>
                </a:solidFill>
                <a:latin typeface="ITC Avant Garde Pro Md" panose="02000607030000020004" pitchFamily="2" charset="77"/>
                <a:ea typeface="Questrial"/>
                <a:cs typeface="Questrial"/>
                <a:sym typeface="Questrial"/>
              </a:rPr>
              <a:t>Módulos funcionales</a:t>
            </a:r>
            <a:endParaRPr sz="3147" dirty="0">
              <a:solidFill>
                <a:srgbClr val="7030A0"/>
              </a:solidFill>
              <a:latin typeface="ITC Avant Garde Pro Md" panose="02000607030000020004" pitchFamily="2" charset="77"/>
              <a:ea typeface="Questrial"/>
              <a:cs typeface="Questrial"/>
              <a:sym typeface="Questrial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7260A74-C1AE-EB52-AF97-C4CE5E64B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673" y="871670"/>
            <a:ext cx="8348626" cy="5675262"/>
          </a:xfrm>
          <a:prstGeom prst="rect">
            <a:avLst/>
          </a:prstGeom>
        </p:spPr>
      </p:pic>
      <p:pic>
        <p:nvPicPr>
          <p:cNvPr id="37" name="Google Shape;197;g3f8d0d90d80_0_9">
            <a:extLst>
              <a:ext uri="{FF2B5EF4-FFF2-40B4-BE49-F238E27FC236}">
                <a16:creationId xmlns:a16="http://schemas.microsoft.com/office/drawing/2014/main" id="{59D58CDF-B17B-E0A0-7A50-65DDA196205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9386" y="2647865"/>
            <a:ext cx="255414" cy="255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197;g3f8d0d90d80_0_9">
            <a:extLst>
              <a:ext uri="{FF2B5EF4-FFF2-40B4-BE49-F238E27FC236}">
                <a16:creationId xmlns:a16="http://schemas.microsoft.com/office/drawing/2014/main" id="{C3242AFA-7BD7-30A2-1879-FD41D21C753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44788" y="2663532"/>
            <a:ext cx="255414" cy="255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197;g3f8d0d90d80_0_9">
            <a:extLst>
              <a:ext uri="{FF2B5EF4-FFF2-40B4-BE49-F238E27FC236}">
                <a16:creationId xmlns:a16="http://schemas.microsoft.com/office/drawing/2014/main" id="{BFE6A754-9C98-6E9F-444B-98B8FFC63F7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96007" y="2696291"/>
            <a:ext cx="255414" cy="255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197;g3f8d0d90d80_0_9">
            <a:extLst>
              <a:ext uri="{FF2B5EF4-FFF2-40B4-BE49-F238E27FC236}">
                <a16:creationId xmlns:a16="http://schemas.microsoft.com/office/drawing/2014/main" id="{FCB15B00-8219-FD2F-57C8-23732C28932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3689" y="6145943"/>
            <a:ext cx="255414" cy="25541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1BA91DA-6BC2-8731-C60F-99C6CE5831A8}"/>
              </a:ext>
            </a:extLst>
          </p:cNvPr>
          <p:cNvSpPr txBox="1"/>
          <p:nvPr/>
        </p:nvSpPr>
        <p:spPr>
          <a:xfrm>
            <a:off x="572569" y="1298960"/>
            <a:ext cx="281038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00" dirty="0">
                <a:solidFill>
                  <a:srgbClr val="7030A0"/>
                </a:solidFill>
                <a:latin typeface="ITC Avant Garde Pro Md" panose="02000607030000020004" pitchFamily="2" charset="77"/>
              </a:rPr>
              <a:t>Módulos funcionales</a:t>
            </a:r>
          </a:p>
          <a:p>
            <a:endParaRPr lang="es-ES_tradnl" dirty="0">
              <a:latin typeface="ITC Avant Garde Pro Md" panose="02000607030000020004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Siembra Campo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Floración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Cruzamientos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sz="1600" dirty="0">
                <a:latin typeface="ITC Avant Garde Pro Bk" panose="02000503030000020004" pitchFamily="2" charset="77"/>
              </a:rPr>
              <a:t>Ver cruzamientos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sz="1600" dirty="0">
                <a:latin typeface="ITC Avant Garde Pro Bk" panose="02000503030000020004" pitchFamily="2" charset="77"/>
              </a:rPr>
              <a:t>Programación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Registro de ensayos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Historias de usuarios.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AFEEC0-C76E-1EFC-164A-8EC61524E893}"/>
              </a:ext>
            </a:extLst>
          </p:cNvPr>
          <p:cNvSpPr txBox="1"/>
          <p:nvPr/>
        </p:nvSpPr>
        <p:spPr>
          <a:xfrm>
            <a:off x="580403" y="4445236"/>
            <a:ext cx="2791149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00" dirty="0">
                <a:solidFill>
                  <a:srgbClr val="7030A0"/>
                </a:solidFill>
                <a:latin typeface="ITC Avant Garde Pro Md" panose="02000607030000020004" pitchFamily="2" charset="77"/>
              </a:rPr>
              <a:t>Módulos en proceso</a:t>
            </a:r>
          </a:p>
          <a:p>
            <a:endParaRPr lang="es-ES_tradnl" dirty="0">
              <a:latin typeface="ITC Avant Garde Pro Md" panose="02000607030000020004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Libros de campo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Experimentos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Variedades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D09F7B2-9FD5-3227-9B7B-4C9E90B12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243" y="4306368"/>
            <a:ext cx="325452" cy="32545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E8F9233-6F9A-5433-B633-9BDDDB9405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370" y="4356219"/>
            <a:ext cx="325452" cy="32545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D269C1F-A898-F5D1-782B-19F094019D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4135" y="4371887"/>
            <a:ext cx="325452" cy="32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01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8d0d90d80_0_9"/>
          <p:cNvSpPr txBox="1"/>
          <p:nvPr/>
        </p:nvSpPr>
        <p:spPr>
          <a:xfrm>
            <a:off x="0" y="379536"/>
            <a:ext cx="12192000" cy="4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s-ES" sz="3147" dirty="0">
                <a:solidFill>
                  <a:srgbClr val="7030A0"/>
                </a:solidFill>
                <a:latin typeface="ITC Avant Garde Pro Md" panose="02000607030000020004" pitchFamily="2" charset="77"/>
                <a:ea typeface="Questrial"/>
                <a:cs typeface="Questrial"/>
                <a:sym typeface="Questrial"/>
              </a:rPr>
              <a:t>Reuniones llevadas a cabo</a:t>
            </a:r>
            <a:endParaRPr sz="3147" dirty="0">
              <a:solidFill>
                <a:srgbClr val="7030A0"/>
              </a:solidFill>
              <a:latin typeface="ITC Avant Garde Pro Md" panose="02000607030000020004" pitchFamily="2" charset="77"/>
              <a:ea typeface="Questrial"/>
              <a:cs typeface="Questrial"/>
              <a:sym typeface="Questrial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7260A74-C1AE-EB52-AF97-C4CE5E64B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673" y="871670"/>
            <a:ext cx="8348626" cy="5675262"/>
          </a:xfrm>
          <a:prstGeom prst="rect">
            <a:avLst/>
          </a:prstGeom>
        </p:spPr>
      </p:pic>
      <p:pic>
        <p:nvPicPr>
          <p:cNvPr id="37" name="Google Shape;197;g3f8d0d90d80_0_9">
            <a:extLst>
              <a:ext uri="{FF2B5EF4-FFF2-40B4-BE49-F238E27FC236}">
                <a16:creationId xmlns:a16="http://schemas.microsoft.com/office/drawing/2014/main" id="{59D58CDF-B17B-E0A0-7A50-65DDA196205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9386" y="2647865"/>
            <a:ext cx="255414" cy="255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197;g3f8d0d90d80_0_9">
            <a:extLst>
              <a:ext uri="{FF2B5EF4-FFF2-40B4-BE49-F238E27FC236}">
                <a16:creationId xmlns:a16="http://schemas.microsoft.com/office/drawing/2014/main" id="{C3242AFA-7BD7-30A2-1879-FD41D21C753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44788" y="2663532"/>
            <a:ext cx="255414" cy="255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197;g3f8d0d90d80_0_9">
            <a:extLst>
              <a:ext uri="{FF2B5EF4-FFF2-40B4-BE49-F238E27FC236}">
                <a16:creationId xmlns:a16="http://schemas.microsoft.com/office/drawing/2014/main" id="{BFE6A754-9C98-6E9F-444B-98B8FFC63F7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96007" y="2696291"/>
            <a:ext cx="255414" cy="255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197;g3f8d0d90d80_0_9">
            <a:extLst>
              <a:ext uri="{FF2B5EF4-FFF2-40B4-BE49-F238E27FC236}">
                <a16:creationId xmlns:a16="http://schemas.microsoft.com/office/drawing/2014/main" id="{FCB15B00-8219-FD2F-57C8-23732C28932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3689" y="6145943"/>
            <a:ext cx="255414" cy="25541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1BA91DA-6BC2-8731-C60F-99C6CE5831A8}"/>
              </a:ext>
            </a:extLst>
          </p:cNvPr>
          <p:cNvSpPr txBox="1"/>
          <p:nvPr/>
        </p:nvSpPr>
        <p:spPr>
          <a:xfrm>
            <a:off x="365742" y="1298960"/>
            <a:ext cx="357488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_tradnl" sz="2000" dirty="0">
              <a:solidFill>
                <a:srgbClr val="7030A0"/>
              </a:solidFill>
              <a:latin typeface="ITC Avant Garde Pro Md" panose="02000607030000020004" pitchFamily="2" charset="77"/>
            </a:endParaRPr>
          </a:p>
          <a:p>
            <a:r>
              <a:rPr lang="es-ES_tradnl" sz="2400" dirty="0">
                <a:solidFill>
                  <a:srgbClr val="7030A0"/>
                </a:solidFill>
                <a:latin typeface="ITC Avant Garde Pro Md" panose="02000607030000020004" pitchFamily="2" charset="77"/>
              </a:rPr>
              <a:t>Hemos contado con el apoyo de:</a:t>
            </a:r>
          </a:p>
          <a:p>
            <a:endParaRPr lang="es-ES_tradnl" dirty="0">
              <a:latin typeface="ITC Avant Garde Pro Bk" panose="02000503030000020004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Lorena Zapata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Paola </a:t>
            </a:r>
            <a:r>
              <a:rPr lang="es-ES_tradnl" dirty="0" err="1">
                <a:latin typeface="ITC Avant Garde Pro Bk" panose="02000503030000020004" pitchFamily="2" charset="77"/>
              </a:rPr>
              <a:t>Cundar</a:t>
            </a:r>
            <a:endParaRPr lang="es-ES_tradnl" dirty="0">
              <a:latin typeface="ITC Avant Garde Pro Bk" panose="02000503030000020004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Luis Orlando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Fernando Silva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Fredy Salazar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>
              <a:latin typeface="ITC Avant Garde Pro Bk" panose="02000503030000020004" pitchFamily="2" charset="77"/>
            </a:endParaRPr>
          </a:p>
          <a:p>
            <a:endParaRPr lang="es-ES_tradnl" dirty="0">
              <a:latin typeface="ITC Avant Garde Pro Bk" panose="02000503030000020004" pitchFamily="2" charset="77"/>
            </a:endParaRPr>
          </a:p>
          <a:p>
            <a:endParaRPr lang="es-ES_tradnl" dirty="0">
              <a:latin typeface="ITC Avant Garde Pro Bk" panose="02000503030000020004" pitchFamily="2" charset="77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D09F7B2-9FD5-3227-9B7B-4C9E90B12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243" y="4306368"/>
            <a:ext cx="325452" cy="32545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E8F9233-6F9A-5433-B633-9BDDDB9405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370" y="4356219"/>
            <a:ext cx="325452" cy="32545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D269C1F-A898-F5D1-782B-19F094019D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4135" y="4371887"/>
            <a:ext cx="325452" cy="32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53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8d0d90d80_0_9"/>
          <p:cNvSpPr txBox="1"/>
          <p:nvPr/>
        </p:nvSpPr>
        <p:spPr>
          <a:xfrm>
            <a:off x="0" y="379536"/>
            <a:ext cx="12192000" cy="4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s-ES" sz="3147" dirty="0">
                <a:solidFill>
                  <a:srgbClr val="7030A0"/>
                </a:solidFill>
                <a:latin typeface="ITC Avant Garde Pro Md" panose="02000607030000020004" pitchFamily="2" charset="77"/>
                <a:ea typeface="Questrial"/>
                <a:cs typeface="Questrial"/>
                <a:sym typeface="Questrial"/>
              </a:rPr>
              <a:t>Reuniones llevadas a cabo</a:t>
            </a:r>
            <a:endParaRPr sz="3147" dirty="0">
              <a:solidFill>
                <a:srgbClr val="7030A0"/>
              </a:solidFill>
              <a:latin typeface="ITC Avant Garde Pro Md" panose="02000607030000020004" pitchFamily="2" charset="77"/>
              <a:ea typeface="Questrial"/>
              <a:cs typeface="Questrial"/>
              <a:sym typeface="Questrial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7260A74-C1AE-EB52-AF97-C4CE5E64B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673" y="871670"/>
            <a:ext cx="8348626" cy="5675262"/>
          </a:xfrm>
          <a:prstGeom prst="rect">
            <a:avLst/>
          </a:prstGeom>
        </p:spPr>
      </p:pic>
      <p:pic>
        <p:nvPicPr>
          <p:cNvPr id="37" name="Google Shape;197;g3f8d0d90d80_0_9">
            <a:extLst>
              <a:ext uri="{FF2B5EF4-FFF2-40B4-BE49-F238E27FC236}">
                <a16:creationId xmlns:a16="http://schemas.microsoft.com/office/drawing/2014/main" id="{59D58CDF-B17B-E0A0-7A50-65DDA196205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9386" y="2647865"/>
            <a:ext cx="255414" cy="255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197;g3f8d0d90d80_0_9">
            <a:extLst>
              <a:ext uri="{FF2B5EF4-FFF2-40B4-BE49-F238E27FC236}">
                <a16:creationId xmlns:a16="http://schemas.microsoft.com/office/drawing/2014/main" id="{C3242AFA-7BD7-30A2-1879-FD41D21C753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44788" y="2663532"/>
            <a:ext cx="255414" cy="255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197;g3f8d0d90d80_0_9">
            <a:extLst>
              <a:ext uri="{FF2B5EF4-FFF2-40B4-BE49-F238E27FC236}">
                <a16:creationId xmlns:a16="http://schemas.microsoft.com/office/drawing/2014/main" id="{BFE6A754-9C98-6E9F-444B-98B8FFC63F7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96007" y="2696291"/>
            <a:ext cx="255414" cy="255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197;g3f8d0d90d80_0_9">
            <a:extLst>
              <a:ext uri="{FF2B5EF4-FFF2-40B4-BE49-F238E27FC236}">
                <a16:creationId xmlns:a16="http://schemas.microsoft.com/office/drawing/2014/main" id="{FCB15B00-8219-FD2F-57C8-23732C28932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3689" y="6145943"/>
            <a:ext cx="255414" cy="25541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1BA91DA-6BC2-8731-C60F-99C6CE5831A8}"/>
              </a:ext>
            </a:extLst>
          </p:cNvPr>
          <p:cNvSpPr txBox="1"/>
          <p:nvPr/>
        </p:nvSpPr>
        <p:spPr>
          <a:xfrm>
            <a:off x="365742" y="1298960"/>
            <a:ext cx="357488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_tradnl" sz="2000" dirty="0">
              <a:solidFill>
                <a:srgbClr val="7030A0"/>
              </a:solidFill>
              <a:latin typeface="ITC Avant Garde Pro Md" panose="02000607030000020004" pitchFamily="2" charset="77"/>
            </a:endParaRPr>
          </a:p>
          <a:p>
            <a:r>
              <a:rPr lang="es-ES_tradnl" sz="2400" dirty="0">
                <a:solidFill>
                  <a:srgbClr val="7030A0"/>
                </a:solidFill>
                <a:latin typeface="ITC Avant Garde Pro Md" panose="02000607030000020004" pitchFamily="2" charset="77"/>
              </a:rPr>
              <a:t>Hemos contado con el apoyo de:</a:t>
            </a:r>
          </a:p>
          <a:p>
            <a:endParaRPr lang="es-ES_tradnl" dirty="0">
              <a:latin typeface="ITC Avant Garde Pro Bk" panose="02000503030000020004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Lorena Zapata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Paola </a:t>
            </a:r>
            <a:r>
              <a:rPr lang="es-ES_tradnl" dirty="0" err="1">
                <a:latin typeface="ITC Avant Garde Pro Bk" panose="02000503030000020004" pitchFamily="2" charset="77"/>
              </a:rPr>
              <a:t>Cundar</a:t>
            </a:r>
            <a:endParaRPr lang="es-ES_tradnl" dirty="0">
              <a:latin typeface="ITC Avant Garde Pro Bk" panose="02000503030000020004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Luis Orlando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Fernando Silva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ITC Avant Garde Pro Bk" panose="02000503030000020004" pitchFamily="2" charset="77"/>
              </a:rPr>
              <a:t>Fredy Salazar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>
              <a:latin typeface="ITC Avant Garde Pro Bk" panose="02000503030000020004" pitchFamily="2" charset="77"/>
            </a:endParaRPr>
          </a:p>
          <a:p>
            <a:endParaRPr lang="es-ES_tradnl" dirty="0">
              <a:latin typeface="ITC Avant Garde Pro Bk" panose="02000503030000020004" pitchFamily="2" charset="77"/>
            </a:endParaRPr>
          </a:p>
          <a:p>
            <a:endParaRPr lang="es-ES_tradnl" dirty="0">
              <a:latin typeface="ITC Avant Garde Pro Bk" panose="02000503030000020004" pitchFamily="2" charset="77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D09F7B2-9FD5-3227-9B7B-4C9E90B12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243" y="4306368"/>
            <a:ext cx="325452" cy="32545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E8F9233-6F9A-5433-B633-9BDDDB9405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370" y="4356219"/>
            <a:ext cx="325452" cy="32545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D269C1F-A898-F5D1-782B-19F094019D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4135" y="4371887"/>
            <a:ext cx="325452" cy="32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53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Los datos fluyen como un encadenamiento vital: la salida de un módulo es la entrada del siguiente, y la trazabilidad recorre toda la cadena.</a:t>
            </a:r>
            <a:endParaRPr lang="en-US" sz="1600" dirty="0">
              <a:latin typeface="ITC Avant Garde Pro Bk" panose="02000503030000020004" pitchFamily="2" charset="7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475738" cy="2194560"/>
          </a:xfrm>
          <a:prstGeom prst="roundRect">
            <a:avLst>
              <a:gd name="adj" fmla="val 375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3589" y="2496312"/>
            <a:ext cx="822960" cy="82296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3383280"/>
            <a:ext cx="2256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41832"/>
                </a:solidFill>
                <a:latin typeface="ITC Avant Garde Pro Md" panose="02000607030000020004" pitchFamily="2" charset="77"/>
                <a:ea typeface="Calibri" pitchFamily="34" charset="-122"/>
                <a:cs typeface="Calibri" pitchFamily="34" charset="-120"/>
              </a:rPr>
              <a:t>Siembra Campo</a:t>
            </a:r>
            <a:endParaRPr lang="en-US" sz="1350" dirty="0">
              <a:latin typeface="ITC Avant Garde Pro Md" panose="02000607030000020004" pitchFamily="2" charset="77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94360" y="374904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Qué variedad y dónde (vivero → parcela).</a:t>
            </a:r>
            <a:endParaRPr lang="en-US" sz="1000" dirty="0">
              <a:latin typeface="ITC Avant Garde Pro Bk" panose="02000503030000020004" pitchFamily="2" charset="7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978658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A85F"/>
                </a:solidFill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>
              <a:latin typeface="ITC Avant Garde Pro Bk" panose="02000503030000020004" pitchFamily="2" charset="7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90138" y="2286000"/>
            <a:ext cx="2475738" cy="2194560"/>
          </a:xfrm>
          <a:prstGeom prst="roundRect">
            <a:avLst>
              <a:gd name="adj" fmla="val 375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16527" y="2496312"/>
            <a:ext cx="822960" cy="82296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99866" y="3383280"/>
            <a:ext cx="2256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41832"/>
                </a:solidFill>
                <a:latin typeface="ITC Avant Garde Pro Md" panose="02000607030000020004" pitchFamily="2" charset="77"/>
                <a:ea typeface="Calibri" pitchFamily="34" charset="-122"/>
                <a:cs typeface="Calibri" pitchFamily="34" charset="-120"/>
              </a:rPr>
              <a:t>Floración</a:t>
            </a:r>
            <a:endParaRPr lang="en-US" sz="1350" dirty="0">
              <a:latin typeface="ITC Avant Garde Pro Md" panose="02000607030000020004" pitchFamily="2" charset="7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527298" y="374904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Qué flores hay hoy (sexo, polen, fecha).</a:t>
            </a:r>
            <a:endParaRPr lang="en-US" sz="1000" dirty="0">
              <a:latin typeface="ITC Avant Garde Pro Bk" panose="02000503030000020004" pitchFamily="2" charset="7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911596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A85F"/>
                </a:solidFill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>
              <a:latin typeface="ITC Avant Garde Pro Bk" panose="02000503030000020004" pitchFamily="2" charset="7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23076" y="2286000"/>
            <a:ext cx="2475738" cy="2194560"/>
          </a:xfrm>
          <a:prstGeom prst="roundRect">
            <a:avLst>
              <a:gd name="adj" fmla="val 375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49465" y="2496312"/>
            <a:ext cx="822960" cy="82296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2804" y="3383280"/>
            <a:ext cx="2256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41832"/>
                </a:solidFill>
                <a:latin typeface="ITC Avant Garde Pro Md" panose="02000607030000020004" pitchFamily="2" charset="77"/>
                <a:ea typeface="Calibri" pitchFamily="34" charset="-122"/>
                <a:cs typeface="Calibri" pitchFamily="34" charset="-120"/>
              </a:rPr>
              <a:t>Cruzamientos</a:t>
            </a:r>
            <a:endParaRPr lang="en-US" sz="1350" dirty="0">
              <a:latin typeface="ITC Avant Garde Pro Md" panose="02000607030000020004" pitchFamily="2" charset="77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460236" y="374904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Qué cruzar: viabilidad + VM + distancia.</a:t>
            </a:r>
            <a:endParaRPr lang="en-US" sz="1000" dirty="0">
              <a:latin typeface="ITC Avant Garde Pro Bk" panose="02000503030000020004" pitchFamily="2" charset="77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844534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A85F"/>
                </a:solidFill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>
              <a:latin typeface="ITC Avant Garde Pro Bk" panose="02000503030000020004" pitchFamily="2" charset="7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256014" y="2286000"/>
            <a:ext cx="2475738" cy="2194560"/>
          </a:xfrm>
          <a:prstGeom prst="roundRect">
            <a:avLst>
              <a:gd name="adj" fmla="val 375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82403" y="2496312"/>
            <a:ext cx="822960" cy="82296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65742" y="3383280"/>
            <a:ext cx="2256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50" dirty="0">
                <a:solidFill>
                  <a:srgbClr val="241832"/>
                </a:solidFill>
                <a:latin typeface="ITC Avant Garde Pro Md" panose="02000607030000020004" pitchFamily="2" charset="77"/>
                <a:ea typeface="Calibri" pitchFamily="34" charset="-122"/>
                <a:cs typeface="Calibri" pitchFamily="34" charset="-120"/>
              </a:rPr>
              <a:t>Registros de cruzamientos</a:t>
            </a:r>
            <a:endParaRPr lang="es-ES_tradnl" sz="1350" dirty="0">
              <a:latin typeface="ITC Avant Garde Pro Md" panose="02000607030000020004" pitchFamily="2" charset="77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9393174" y="3749040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Progenie que vuelve al campo.</a:t>
            </a:r>
            <a:endParaRPr lang="en-US" sz="1000" dirty="0">
              <a:latin typeface="ITC Avant Garde Pro Bk" panose="02000503030000020004" pitchFamily="2" charset="7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937759"/>
            <a:ext cx="11274552" cy="1593669"/>
          </a:xfrm>
          <a:prstGeom prst="roundRect">
            <a:avLst>
              <a:gd name="adj" fmla="val 7826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" y="5175504"/>
            <a:ext cx="566928" cy="566928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674223" y="5101044"/>
            <a:ext cx="9966960" cy="1299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s-ES_tradnl" sz="2000" dirty="0">
                <a:solidFill>
                  <a:srgbClr val="7030A0"/>
                </a:solidFill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Trazabilidad continua:  </a:t>
            </a:r>
            <a:r>
              <a:rPr lang="es-ES_tradnl" sz="2000" dirty="0"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Todos los módulos cuentan con el concepto de </a:t>
            </a:r>
            <a:r>
              <a:rPr lang="es-ES_tradnl" sz="2000" dirty="0" err="1"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blockchain</a:t>
            </a:r>
            <a:r>
              <a:rPr lang="es-ES_tradnl" sz="2000" dirty="0"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lnSpc>
                <a:spcPct val="102000"/>
              </a:lnSpc>
              <a:buFont typeface="Arial" panose="020B0604020202020204" pitchFamily="34" charset="0"/>
              <a:buChar char="•"/>
            </a:pPr>
            <a:endParaRPr lang="es-ES_tradnl" sz="2000" dirty="0">
              <a:latin typeface="ITC Avant Garde Pro Bk" panose="02000503030000020004" pitchFamily="2" charset="77"/>
              <a:cs typeface="Calibri" pitchFamily="34" charset="-120"/>
            </a:endParaRPr>
          </a:p>
          <a:p>
            <a:pPr marL="342900" indent="-34290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s-ES_tradnl" sz="2000" dirty="0">
                <a:latin typeface="ITC Avant Garde Pro Bk" panose="02000503030000020004" pitchFamily="2" charset="77"/>
                <a:cs typeface="Calibri" pitchFamily="34" charset="-120"/>
              </a:rPr>
              <a:t>Reunión semanal con Seti para reportar avances. </a:t>
            </a:r>
            <a:endParaRPr lang="es-ES_tradnl" sz="2000" dirty="0">
              <a:latin typeface="ITC Avant Garde Pro Bk" panose="02000503030000020004" pitchFamily="2" charset="77"/>
            </a:endParaRPr>
          </a:p>
        </p:txBody>
      </p:sp>
      <p:sp>
        <p:nvSpPr>
          <p:cNvPr id="30" name="Google Shape;185;g3f8d0d90d80_0_9">
            <a:extLst>
              <a:ext uri="{FF2B5EF4-FFF2-40B4-BE49-F238E27FC236}">
                <a16:creationId xmlns:a16="http://schemas.microsoft.com/office/drawing/2014/main" id="{2C1AEF54-4947-74EA-B29D-1A357D4515B7}"/>
              </a:ext>
            </a:extLst>
          </p:cNvPr>
          <p:cNvSpPr txBox="1"/>
          <p:nvPr/>
        </p:nvSpPr>
        <p:spPr>
          <a:xfrm>
            <a:off x="0" y="510164"/>
            <a:ext cx="12192000" cy="4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s-ES" sz="3147" dirty="0">
                <a:solidFill>
                  <a:srgbClr val="7030A0"/>
                </a:solidFill>
                <a:latin typeface="ITC Avant Garde Pro Md" panose="02000607030000020004" pitchFamily="2" charset="77"/>
                <a:ea typeface="Questrial"/>
                <a:cs typeface="Questrial"/>
                <a:sym typeface="Questrial"/>
              </a:rPr>
              <a:t>Hemos conectado los módulos entre ellos.</a:t>
            </a:r>
            <a:endParaRPr sz="3147" dirty="0">
              <a:solidFill>
                <a:srgbClr val="7030A0"/>
              </a:solidFill>
              <a:latin typeface="ITC Avant Garde Pro Md" panose="02000607030000020004" pitchFamily="2" charset="77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60350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7030A0"/>
                </a:solidFill>
                <a:latin typeface="ITC Avant Garde Pro Md" panose="02000607030000020004" pitchFamily="2" charset="77"/>
                <a:ea typeface="Calibri" pitchFamily="34" charset="-122"/>
                <a:cs typeface="Calibri" pitchFamily="34" charset="-120"/>
              </a:rPr>
              <a:t>Arquitectura general y Data Lake</a:t>
            </a:r>
            <a:endParaRPr lang="en-US" sz="2700" dirty="0">
              <a:solidFill>
                <a:srgbClr val="7030A0"/>
              </a:solidFill>
              <a:latin typeface="ITC Avant Garde Pro Md" panose="02000607030000020004" pitchFamily="2" charset="7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35428" y="143996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Un stack moderno sobre una base de datos única que actúa como Data Lake especializado, conectado al sistema corporativo SIPRO.</a:t>
            </a:r>
            <a:endParaRPr lang="en-US" sz="1600" dirty="0">
              <a:latin typeface="ITC Avant Garde Pro Bk" panose="02000503030000020004" pitchFamily="2" charset="7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5428" y="2299062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6596" y="2865990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86988" y="248194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  <a:latin typeface="ITC Avant Garde Pro Md" panose="02000607030000020004" pitchFamily="2" charset="77"/>
                <a:ea typeface="Calibri" pitchFamily="34" charset="-122"/>
                <a:cs typeface="Calibri" pitchFamily="34" charset="-120"/>
              </a:rPr>
              <a:t>Frontend — Vue 3</a:t>
            </a:r>
            <a:endParaRPr lang="en-US" sz="2000" dirty="0">
              <a:solidFill>
                <a:srgbClr val="7030A0"/>
              </a:solidFill>
              <a:latin typeface="ITC Avant Garde Pro Md" panose="02000607030000020004" pitchFamily="2" charset="77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508759" y="3130731"/>
            <a:ext cx="4206240" cy="635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Vite + TypeScript + Tailwind. Dashboards y asistentes de importación.</a:t>
            </a:r>
            <a:endParaRPr lang="en-US" sz="1600" dirty="0">
              <a:latin typeface="ITC Avant Garde Pro Bk" panose="02000503030000020004" pitchFamily="2" charset="7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23580" y="2299062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4748" y="2865990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75140" y="248194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  <a:latin typeface="ITC Avant Garde Pro Md" panose="02000607030000020004" pitchFamily="2" charset="77"/>
                <a:ea typeface="Calibri" pitchFamily="34" charset="-122"/>
                <a:cs typeface="Calibri" pitchFamily="34" charset="-120"/>
              </a:rPr>
              <a:t>Backend — Laravel</a:t>
            </a:r>
            <a:endParaRPr lang="en-US" sz="2000" dirty="0">
              <a:solidFill>
                <a:srgbClr val="7030A0"/>
              </a:solidFill>
              <a:latin typeface="ITC Avant Garde Pro Md" panose="02000607030000020004" pitchFamily="2" charset="77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275140" y="3098073"/>
            <a:ext cx="4206240" cy="603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PHP. Reglas de negocio, el motor de cruzamientos y las validaciones.</a:t>
            </a:r>
            <a:endParaRPr lang="en-US" sz="1600" dirty="0">
              <a:latin typeface="ITC Avant Garde Pro Bk" panose="02000503030000020004" pitchFamily="2" charset="7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5428" y="4310742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6596" y="4877670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86988" y="449362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  <a:latin typeface="ITC Avant Garde Pro Md" panose="02000607030000020004" pitchFamily="2" charset="77"/>
                <a:ea typeface="Calibri" pitchFamily="34" charset="-122"/>
                <a:cs typeface="Calibri" pitchFamily="34" charset="-120"/>
              </a:rPr>
              <a:t>Base de datos — PostgreSQL</a:t>
            </a:r>
            <a:endParaRPr lang="en-US" sz="2000" dirty="0">
              <a:solidFill>
                <a:srgbClr val="7030A0"/>
              </a:solidFill>
              <a:latin typeface="ITC Avant Garde Pro Md" panose="02000607030000020004" pitchFamily="2" charset="7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508759" y="5196839"/>
            <a:ext cx="4206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Conexión dedicada 'sivar' como fuente única de verdad.</a:t>
            </a:r>
            <a:endParaRPr lang="en-US" sz="1600" dirty="0">
              <a:latin typeface="ITC Avant Garde Pro Bk" panose="02000503030000020004" pitchFamily="2" charset="7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23580" y="4310742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4748" y="4877670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75140" y="449362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  <a:latin typeface="ITC Avant Garde Pro Md" panose="02000607030000020004" pitchFamily="2" charset="77"/>
                <a:ea typeface="Calibri" pitchFamily="34" charset="-122"/>
                <a:cs typeface="Calibri" pitchFamily="34" charset="-120"/>
              </a:rPr>
              <a:t>Data Lake + SIPRO</a:t>
            </a:r>
            <a:endParaRPr lang="en-US" sz="2000" dirty="0">
              <a:solidFill>
                <a:srgbClr val="7030A0"/>
              </a:solidFill>
              <a:latin typeface="ITC Avant Garde Pro Md" panose="02000607030000020004" pitchFamily="2" charset="77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296911" y="5196839"/>
            <a:ext cx="4206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latin typeface="ITC Avant Garde Pro Bk" panose="02000503030000020004" pitchFamily="2" charset="77"/>
                <a:ea typeface="Calibri" pitchFamily="34" charset="-122"/>
                <a:cs typeface="Calibri" pitchFamily="34" charset="-120"/>
              </a:rPr>
              <a:t>Capas de campo, genética y molecular + puente al sistema corporativo.</a:t>
            </a:r>
            <a:endParaRPr lang="en-US" sz="1600" dirty="0">
              <a:latin typeface="ITC Avant Garde Pro Bk" panose="02000503030000020004" pitchFamily="2" charset="7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48640"/>
            <a:ext cx="2103120" cy="6581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6517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FFFFFF"/>
                </a:solidFill>
                <a:latin typeface="ITC Avant Garde Pro Md" panose="02000607030000020004" pitchFamily="2" charset="77"/>
                <a:ea typeface="Calibri" pitchFamily="34" charset="-122"/>
                <a:cs typeface="Calibri" pitchFamily="34" charset="-120"/>
              </a:rPr>
              <a:t>Gracias</a:t>
            </a:r>
            <a:endParaRPr lang="en-US" sz="5400" dirty="0">
              <a:latin typeface="ITC Avant Garde Pro Md" panose="02000607030000020004" pitchFamily="2" charset="7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66928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57C"/>
                </a:solidFill>
                <a:latin typeface="ITC Avant Garde Pro Md" panose="02000607030000020004" pitchFamily="2" charset="77"/>
                <a:ea typeface="Calibri" pitchFamily="34" charset="-122"/>
                <a:cs typeface="Calibri" pitchFamily="34" charset="-120"/>
              </a:rPr>
              <a:t>Espacio para preguntas y observaciones</a:t>
            </a:r>
            <a:endParaRPr lang="en-US" sz="1600" dirty="0">
              <a:latin typeface="ITC Avant Garde Pro Md" panose="02000607030000020004" pitchFamily="2" charset="77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66928" y="5029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TC Avant Garde Pro Md" panose="02000607030000020004" pitchFamily="2" charset="77"/>
                <a:ea typeface="Calibri" pitchFamily="34" charset="-122"/>
                <a:cs typeface="Calibri" pitchFamily="34" charset="-120"/>
              </a:rPr>
              <a:t>Jhon Henry Trujillo, Ph.D. Sebastian Rodriguez</a:t>
            </a:r>
            <a:endParaRPr lang="en-US" sz="1300" dirty="0">
              <a:latin typeface="ITC Avant Garde Pro Md" panose="02000607030000020004" pitchFamily="2" charset="7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D9CBEF"/>
                </a:solidFill>
                <a:latin typeface="ITC Avant Garde Pro Md" panose="02000607030000020004" pitchFamily="2" charset="77"/>
                <a:ea typeface="Calibri" pitchFamily="34" charset="-122"/>
                <a:cs typeface="Calibri" pitchFamily="34" charset="-120"/>
              </a:rPr>
              <a:t>Grupo de Mejoramiento Genético + Grupo de Biotecnología · CENICAÑA</a:t>
            </a:r>
            <a:endParaRPr lang="en-US" sz="1300" dirty="0">
              <a:latin typeface="ITC Avant Garde Pro Md" panose="02000607030000020004" pitchFamily="2" charset="77"/>
            </a:endParaRPr>
          </a:p>
        </p:txBody>
      </p:sp>
      <p:pic>
        <p:nvPicPr>
          <p:cNvPr id="6" name="Image 1" descr="assets/disc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228600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580</Words>
  <Application>Microsoft Macintosh PowerPoint</Application>
  <PresentationFormat>Widescreen</PresentationFormat>
  <Paragraphs>127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ITC Avant Garde Pro Bk</vt:lpstr>
      <vt:lpstr>ITC Avant Garde Pro Md</vt:lpstr>
      <vt:lpstr>Questrial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CENICAÑA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SIVAR — Integración, Avances y Refactorización</dc:title>
  <dc:subject>PptxGenJS Presentation</dc:subject>
  <dc:creator>Jhon Henry Trujillo, Ph.D.</dc:creator>
  <cp:lastModifiedBy>Cenicaña Office</cp:lastModifiedBy>
  <cp:revision>22</cp:revision>
  <dcterms:created xsi:type="dcterms:W3CDTF">2026-09-13T14:06:55Z</dcterms:created>
  <dcterms:modified xsi:type="dcterms:W3CDTF">2026-09-13T15:59:31Z</dcterms:modified>
</cp:coreProperties>
</file>